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44"/>
  </p:notesMasterIdLst>
  <p:sldIdLst>
    <p:sldId id="256" r:id="rId2"/>
    <p:sldId id="287" r:id="rId3"/>
    <p:sldId id="289" r:id="rId4"/>
    <p:sldId id="290" r:id="rId5"/>
    <p:sldId id="292" r:id="rId6"/>
    <p:sldId id="293" r:id="rId7"/>
    <p:sldId id="288" r:id="rId8"/>
    <p:sldId id="291" r:id="rId9"/>
    <p:sldId id="294" r:id="rId10"/>
    <p:sldId id="295" r:id="rId11"/>
    <p:sldId id="297" r:id="rId12"/>
    <p:sldId id="298" r:id="rId13"/>
    <p:sldId id="299" r:id="rId14"/>
    <p:sldId id="300" r:id="rId15"/>
    <p:sldId id="301" r:id="rId16"/>
    <p:sldId id="302" r:id="rId17"/>
    <p:sldId id="303" r:id="rId18"/>
    <p:sldId id="304" r:id="rId19"/>
    <p:sldId id="296" r:id="rId20"/>
    <p:sldId id="305" r:id="rId21"/>
    <p:sldId id="306" r:id="rId22"/>
    <p:sldId id="307" r:id="rId23"/>
    <p:sldId id="308" r:id="rId24"/>
    <p:sldId id="309" r:id="rId25"/>
    <p:sldId id="310" r:id="rId26"/>
    <p:sldId id="311" r:id="rId27"/>
    <p:sldId id="315" r:id="rId28"/>
    <p:sldId id="316" r:id="rId29"/>
    <p:sldId id="317" r:id="rId30"/>
    <p:sldId id="323" r:id="rId31"/>
    <p:sldId id="324" r:id="rId32"/>
    <p:sldId id="325" r:id="rId33"/>
    <p:sldId id="326" r:id="rId34"/>
    <p:sldId id="318" r:id="rId35"/>
    <p:sldId id="319" r:id="rId36"/>
    <p:sldId id="320" r:id="rId37"/>
    <p:sldId id="321" r:id="rId38"/>
    <p:sldId id="322" r:id="rId39"/>
    <p:sldId id="327" r:id="rId40"/>
    <p:sldId id="328" r:id="rId41"/>
    <p:sldId id="329" r:id="rId42"/>
    <p:sldId id="33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53" autoAdjust="0"/>
    <p:restoredTop sz="94333" autoAdjust="0"/>
  </p:normalViewPr>
  <p:slideViewPr>
    <p:cSldViewPr snapToGrid="0">
      <p:cViewPr varScale="1">
        <p:scale>
          <a:sx n="92" d="100"/>
          <a:sy n="92" d="100"/>
        </p:scale>
        <p:origin x="43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403256-8288-4E5D-9FAD-48829668DE6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32FB425D-7761-4FC3-A783-17DA62E141DC}">
      <dgm:prSet phldrT="[Text]"/>
      <dgm:spPr/>
      <dgm:t>
        <a:bodyPr/>
        <a:lstStyle/>
        <a:p>
          <a:r>
            <a:rPr lang="en-GB" dirty="0"/>
            <a:t>Design Pattern</a:t>
          </a:r>
          <a:endParaRPr lang="en-IN" dirty="0"/>
        </a:p>
      </dgm:t>
    </dgm:pt>
    <dgm:pt modelId="{E65E0542-D9EA-433F-B24B-7747742B8331}" type="parTrans" cxnId="{D521FA4B-6311-4F24-984A-0647D0296E24}">
      <dgm:prSet/>
      <dgm:spPr/>
      <dgm:t>
        <a:bodyPr/>
        <a:lstStyle/>
        <a:p>
          <a:endParaRPr lang="en-IN"/>
        </a:p>
      </dgm:t>
    </dgm:pt>
    <dgm:pt modelId="{73F3B9A8-5766-4B96-B322-C59088AC2305}" type="sibTrans" cxnId="{D521FA4B-6311-4F24-984A-0647D0296E24}">
      <dgm:prSet/>
      <dgm:spPr/>
      <dgm:t>
        <a:bodyPr/>
        <a:lstStyle/>
        <a:p>
          <a:endParaRPr lang="en-IN"/>
        </a:p>
      </dgm:t>
    </dgm:pt>
    <dgm:pt modelId="{6858A127-6648-4AF2-817E-4DF36243EA6D}">
      <dgm:prSet phldrT="[Text]"/>
      <dgm:spPr/>
      <dgm:t>
        <a:bodyPr/>
        <a:lstStyle/>
        <a:p>
          <a:r>
            <a:rPr lang="en-GB" dirty="0"/>
            <a:t>Creational</a:t>
          </a:r>
          <a:endParaRPr lang="en-IN" dirty="0"/>
        </a:p>
      </dgm:t>
    </dgm:pt>
    <dgm:pt modelId="{7B7F4145-55D5-4C3E-8555-13EDCB8415CB}" type="parTrans" cxnId="{C0A76B53-0DD4-45A4-A407-CFA40FAE95C8}">
      <dgm:prSet/>
      <dgm:spPr/>
      <dgm:t>
        <a:bodyPr/>
        <a:lstStyle/>
        <a:p>
          <a:endParaRPr lang="en-IN"/>
        </a:p>
      </dgm:t>
    </dgm:pt>
    <dgm:pt modelId="{4FDE2DFD-CDD2-4D67-970C-297423F7788E}" type="sibTrans" cxnId="{C0A76B53-0DD4-45A4-A407-CFA40FAE95C8}">
      <dgm:prSet/>
      <dgm:spPr/>
      <dgm:t>
        <a:bodyPr/>
        <a:lstStyle/>
        <a:p>
          <a:endParaRPr lang="en-IN"/>
        </a:p>
      </dgm:t>
    </dgm:pt>
    <dgm:pt modelId="{AEFBB7D4-E7A5-4F4A-B7C9-B6EC759EA107}">
      <dgm:prSet phldrT="[Text]"/>
      <dgm:spPr/>
      <dgm:t>
        <a:bodyPr/>
        <a:lstStyle/>
        <a:p>
          <a:r>
            <a:rPr lang="en-GB" dirty="0"/>
            <a:t>Structural</a:t>
          </a:r>
          <a:endParaRPr lang="en-IN" dirty="0"/>
        </a:p>
      </dgm:t>
    </dgm:pt>
    <dgm:pt modelId="{9C3C8272-26F4-461A-872E-BB4FD9F148FE}" type="parTrans" cxnId="{27E18696-3BB5-4046-8656-0735C9E6944C}">
      <dgm:prSet/>
      <dgm:spPr/>
      <dgm:t>
        <a:bodyPr/>
        <a:lstStyle/>
        <a:p>
          <a:endParaRPr lang="en-IN"/>
        </a:p>
      </dgm:t>
    </dgm:pt>
    <dgm:pt modelId="{3FD07CB9-10FB-452A-AA84-CC0C9BBB999D}" type="sibTrans" cxnId="{27E18696-3BB5-4046-8656-0735C9E6944C}">
      <dgm:prSet/>
      <dgm:spPr/>
      <dgm:t>
        <a:bodyPr/>
        <a:lstStyle/>
        <a:p>
          <a:endParaRPr lang="en-IN"/>
        </a:p>
      </dgm:t>
    </dgm:pt>
    <dgm:pt modelId="{1946F78D-F39A-478A-9F8A-8AC6B9813350}">
      <dgm:prSet phldrT="[Text]"/>
      <dgm:spPr/>
      <dgm:t>
        <a:bodyPr/>
        <a:lstStyle/>
        <a:p>
          <a:r>
            <a:rPr lang="en-GB" dirty="0"/>
            <a:t>Behavioural</a:t>
          </a:r>
          <a:endParaRPr lang="en-IN" dirty="0"/>
        </a:p>
      </dgm:t>
    </dgm:pt>
    <dgm:pt modelId="{4591F948-91AA-4F92-9D8E-66DA30806CAC}" type="parTrans" cxnId="{9F74B467-89BC-475B-930A-2DBEFE5B2AD1}">
      <dgm:prSet/>
      <dgm:spPr/>
      <dgm:t>
        <a:bodyPr/>
        <a:lstStyle/>
        <a:p>
          <a:endParaRPr lang="en-IN"/>
        </a:p>
      </dgm:t>
    </dgm:pt>
    <dgm:pt modelId="{9C1584D4-1A2F-48A4-9B4D-D3FD27535AC7}" type="sibTrans" cxnId="{9F74B467-89BC-475B-930A-2DBEFE5B2AD1}">
      <dgm:prSet/>
      <dgm:spPr/>
      <dgm:t>
        <a:bodyPr/>
        <a:lstStyle/>
        <a:p>
          <a:endParaRPr lang="en-IN"/>
        </a:p>
      </dgm:t>
    </dgm:pt>
    <dgm:pt modelId="{6791CA3B-8175-405F-87B3-F675360D869E}" type="pres">
      <dgm:prSet presAssocID="{FF403256-8288-4E5D-9FAD-48829668DE6E}" presName="hierChild1" presStyleCnt="0">
        <dgm:presLayoutVars>
          <dgm:orgChart val="1"/>
          <dgm:chPref val="1"/>
          <dgm:dir/>
          <dgm:animOne val="branch"/>
          <dgm:animLvl val="lvl"/>
          <dgm:resizeHandles/>
        </dgm:presLayoutVars>
      </dgm:prSet>
      <dgm:spPr/>
    </dgm:pt>
    <dgm:pt modelId="{C2D53C1F-E3D3-4EC1-B876-4A4979E111EB}" type="pres">
      <dgm:prSet presAssocID="{32FB425D-7761-4FC3-A783-17DA62E141DC}" presName="hierRoot1" presStyleCnt="0">
        <dgm:presLayoutVars>
          <dgm:hierBranch val="init"/>
        </dgm:presLayoutVars>
      </dgm:prSet>
      <dgm:spPr/>
    </dgm:pt>
    <dgm:pt modelId="{D74B41F9-A1D3-41D9-9C3C-C15DAF967931}" type="pres">
      <dgm:prSet presAssocID="{32FB425D-7761-4FC3-A783-17DA62E141DC}" presName="rootComposite1" presStyleCnt="0"/>
      <dgm:spPr/>
    </dgm:pt>
    <dgm:pt modelId="{588B40B7-F715-4E21-A9C9-4452F7F38222}" type="pres">
      <dgm:prSet presAssocID="{32FB425D-7761-4FC3-A783-17DA62E141DC}" presName="rootText1" presStyleLbl="node0" presStyleIdx="0" presStyleCnt="1" custScaleX="201735">
        <dgm:presLayoutVars>
          <dgm:chPref val="3"/>
        </dgm:presLayoutVars>
      </dgm:prSet>
      <dgm:spPr/>
    </dgm:pt>
    <dgm:pt modelId="{6FDC8CBE-F804-44B3-A8A4-33475065B0A1}" type="pres">
      <dgm:prSet presAssocID="{32FB425D-7761-4FC3-A783-17DA62E141DC}" presName="rootConnector1" presStyleLbl="node1" presStyleIdx="0" presStyleCnt="0"/>
      <dgm:spPr/>
    </dgm:pt>
    <dgm:pt modelId="{07309C07-B554-42E9-AEE9-D231C8731A92}" type="pres">
      <dgm:prSet presAssocID="{32FB425D-7761-4FC3-A783-17DA62E141DC}" presName="hierChild2" presStyleCnt="0"/>
      <dgm:spPr/>
    </dgm:pt>
    <dgm:pt modelId="{2AF55B39-F730-4D07-AD4E-4305DA521F00}" type="pres">
      <dgm:prSet presAssocID="{7B7F4145-55D5-4C3E-8555-13EDCB8415CB}" presName="Name37" presStyleLbl="parChTrans1D2" presStyleIdx="0" presStyleCnt="3"/>
      <dgm:spPr/>
    </dgm:pt>
    <dgm:pt modelId="{A8F3AE2B-1677-47C2-BABD-FABA8862B467}" type="pres">
      <dgm:prSet presAssocID="{6858A127-6648-4AF2-817E-4DF36243EA6D}" presName="hierRoot2" presStyleCnt="0">
        <dgm:presLayoutVars>
          <dgm:hierBranch val="init"/>
        </dgm:presLayoutVars>
      </dgm:prSet>
      <dgm:spPr/>
    </dgm:pt>
    <dgm:pt modelId="{9B459BD4-0762-4ED6-A975-A89984CC4E88}" type="pres">
      <dgm:prSet presAssocID="{6858A127-6648-4AF2-817E-4DF36243EA6D}" presName="rootComposite" presStyleCnt="0"/>
      <dgm:spPr/>
    </dgm:pt>
    <dgm:pt modelId="{12106461-AEB2-4284-8070-F2264D1165EC}" type="pres">
      <dgm:prSet presAssocID="{6858A127-6648-4AF2-817E-4DF36243EA6D}" presName="rootText" presStyleLbl="node2" presStyleIdx="0" presStyleCnt="3">
        <dgm:presLayoutVars>
          <dgm:chPref val="3"/>
        </dgm:presLayoutVars>
      </dgm:prSet>
      <dgm:spPr/>
    </dgm:pt>
    <dgm:pt modelId="{24C958B2-3B27-4BEC-9B3C-2C1AFC57D685}" type="pres">
      <dgm:prSet presAssocID="{6858A127-6648-4AF2-817E-4DF36243EA6D}" presName="rootConnector" presStyleLbl="node2" presStyleIdx="0" presStyleCnt="3"/>
      <dgm:spPr/>
    </dgm:pt>
    <dgm:pt modelId="{54AE3DA7-1A14-4229-9CF2-2AF7550C0107}" type="pres">
      <dgm:prSet presAssocID="{6858A127-6648-4AF2-817E-4DF36243EA6D}" presName="hierChild4" presStyleCnt="0"/>
      <dgm:spPr/>
    </dgm:pt>
    <dgm:pt modelId="{97F776F2-7A47-4334-BFF0-1FD85813B2B2}" type="pres">
      <dgm:prSet presAssocID="{6858A127-6648-4AF2-817E-4DF36243EA6D}" presName="hierChild5" presStyleCnt="0"/>
      <dgm:spPr/>
    </dgm:pt>
    <dgm:pt modelId="{6F905A9A-3FA7-4D77-8588-75F09F3B1AEE}" type="pres">
      <dgm:prSet presAssocID="{9C3C8272-26F4-461A-872E-BB4FD9F148FE}" presName="Name37" presStyleLbl="parChTrans1D2" presStyleIdx="1" presStyleCnt="3"/>
      <dgm:spPr/>
    </dgm:pt>
    <dgm:pt modelId="{25F6955D-3DC5-4069-BA22-417103B02036}" type="pres">
      <dgm:prSet presAssocID="{AEFBB7D4-E7A5-4F4A-B7C9-B6EC759EA107}" presName="hierRoot2" presStyleCnt="0">
        <dgm:presLayoutVars>
          <dgm:hierBranch val="init"/>
        </dgm:presLayoutVars>
      </dgm:prSet>
      <dgm:spPr/>
    </dgm:pt>
    <dgm:pt modelId="{DE4919B3-51E4-4B29-A15B-E9F079FACFE3}" type="pres">
      <dgm:prSet presAssocID="{AEFBB7D4-E7A5-4F4A-B7C9-B6EC759EA107}" presName="rootComposite" presStyleCnt="0"/>
      <dgm:spPr/>
    </dgm:pt>
    <dgm:pt modelId="{4F77F00C-6B90-481F-9B29-EA3A1EEFB442}" type="pres">
      <dgm:prSet presAssocID="{AEFBB7D4-E7A5-4F4A-B7C9-B6EC759EA107}" presName="rootText" presStyleLbl="node2" presStyleIdx="1" presStyleCnt="3">
        <dgm:presLayoutVars>
          <dgm:chPref val="3"/>
        </dgm:presLayoutVars>
      </dgm:prSet>
      <dgm:spPr/>
    </dgm:pt>
    <dgm:pt modelId="{B1B6F388-BE9A-4690-9308-A16EA12CF4B0}" type="pres">
      <dgm:prSet presAssocID="{AEFBB7D4-E7A5-4F4A-B7C9-B6EC759EA107}" presName="rootConnector" presStyleLbl="node2" presStyleIdx="1" presStyleCnt="3"/>
      <dgm:spPr/>
    </dgm:pt>
    <dgm:pt modelId="{5D10FFAF-89B4-4427-BA56-2D13E2B8BCA4}" type="pres">
      <dgm:prSet presAssocID="{AEFBB7D4-E7A5-4F4A-B7C9-B6EC759EA107}" presName="hierChild4" presStyleCnt="0"/>
      <dgm:spPr/>
    </dgm:pt>
    <dgm:pt modelId="{EEB6CCA9-A7CF-4E26-B0BA-9FBCF15A33D6}" type="pres">
      <dgm:prSet presAssocID="{AEFBB7D4-E7A5-4F4A-B7C9-B6EC759EA107}" presName="hierChild5" presStyleCnt="0"/>
      <dgm:spPr/>
    </dgm:pt>
    <dgm:pt modelId="{BD46BFCF-C8BA-4371-8AA6-8CEB2A44F5C3}" type="pres">
      <dgm:prSet presAssocID="{4591F948-91AA-4F92-9D8E-66DA30806CAC}" presName="Name37" presStyleLbl="parChTrans1D2" presStyleIdx="2" presStyleCnt="3"/>
      <dgm:spPr/>
    </dgm:pt>
    <dgm:pt modelId="{B949E3AD-7579-424F-AB5B-13EECE46F1E2}" type="pres">
      <dgm:prSet presAssocID="{1946F78D-F39A-478A-9F8A-8AC6B9813350}" presName="hierRoot2" presStyleCnt="0">
        <dgm:presLayoutVars>
          <dgm:hierBranch val="init"/>
        </dgm:presLayoutVars>
      </dgm:prSet>
      <dgm:spPr/>
    </dgm:pt>
    <dgm:pt modelId="{D71CCB63-0892-4077-A515-72E4BE1855CA}" type="pres">
      <dgm:prSet presAssocID="{1946F78D-F39A-478A-9F8A-8AC6B9813350}" presName="rootComposite" presStyleCnt="0"/>
      <dgm:spPr/>
    </dgm:pt>
    <dgm:pt modelId="{CB140DAD-C841-43CE-99DC-40EF28635CED}" type="pres">
      <dgm:prSet presAssocID="{1946F78D-F39A-478A-9F8A-8AC6B9813350}" presName="rootText" presStyleLbl="node2" presStyleIdx="2" presStyleCnt="3">
        <dgm:presLayoutVars>
          <dgm:chPref val="3"/>
        </dgm:presLayoutVars>
      </dgm:prSet>
      <dgm:spPr/>
    </dgm:pt>
    <dgm:pt modelId="{C9A1EDF7-E0DE-4BA3-8D60-8BADE90070D2}" type="pres">
      <dgm:prSet presAssocID="{1946F78D-F39A-478A-9F8A-8AC6B9813350}" presName="rootConnector" presStyleLbl="node2" presStyleIdx="2" presStyleCnt="3"/>
      <dgm:spPr/>
    </dgm:pt>
    <dgm:pt modelId="{0245F3C0-B775-47DF-A548-17FBCCF7A2AA}" type="pres">
      <dgm:prSet presAssocID="{1946F78D-F39A-478A-9F8A-8AC6B9813350}" presName="hierChild4" presStyleCnt="0"/>
      <dgm:spPr/>
    </dgm:pt>
    <dgm:pt modelId="{92CBCE88-1DB5-4245-8AC5-6FF53380AD4A}" type="pres">
      <dgm:prSet presAssocID="{1946F78D-F39A-478A-9F8A-8AC6B9813350}" presName="hierChild5" presStyleCnt="0"/>
      <dgm:spPr/>
    </dgm:pt>
    <dgm:pt modelId="{A12C6DA0-12EC-4C2F-95C2-CAFDA6C92D48}" type="pres">
      <dgm:prSet presAssocID="{32FB425D-7761-4FC3-A783-17DA62E141DC}" presName="hierChild3" presStyleCnt="0"/>
      <dgm:spPr/>
    </dgm:pt>
  </dgm:ptLst>
  <dgm:cxnLst>
    <dgm:cxn modelId="{18CA2F01-5040-4D55-BDDB-720B5B94D57C}" type="presOf" srcId="{7B7F4145-55D5-4C3E-8555-13EDCB8415CB}" destId="{2AF55B39-F730-4D07-AD4E-4305DA521F00}" srcOrd="0" destOrd="0" presId="urn:microsoft.com/office/officeart/2005/8/layout/orgChart1"/>
    <dgm:cxn modelId="{4E6B6212-E08B-464E-BD56-819063129FBE}" type="presOf" srcId="{6858A127-6648-4AF2-817E-4DF36243EA6D}" destId="{24C958B2-3B27-4BEC-9B3C-2C1AFC57D685}" srcOrd="1" destOrd="0" presId="urn:microsoft.com/office/officeart/2005/8/layout/orgChart1"/>
    <dgm:cxn modelId="{F4469E15-53F8-4731-8568-910B0B695B1C}" type="presOf" srcId="{4591F948-91AA-4F92-9D8E-66DA30806CAC}" destId="{BD46BFCF-C8BA-4371-8AA6-8CEB2A44F5C3}" srcOrd="0" destOrd="0" presId="urn:microsoft.com/office/officeart/2005/8/layout/orgChart1"/>
    <dgm:cxn modelId="{12ADCC5C-11E5-4BD4-B53E-7A3053AE9E75}" type="presOf" srcId="{9C3C8272-26F4-461A-872E-BB4FD9F148FE}" destId="{6F905A9A-3FA7-4D77-8588-75F09F3B1AEE}" srcOrd="0" destOrd="0" presId="urn:microsoft.com/office/officeart/2005/8/layout/orgChart1"/>
    <dgm:cxn modelId="{9F74B467-89BC-475B-930A-2DBEFE5B2AD1}" srcId="{32FB425D-7761-4FC3-A783-17DA62E141DC}" destId="{1946F78D-F39A-478A-9F8A-8AC6B9813350}" srcOrd="2" destOrd="0" parTransId="{4591F948-91AA-4F92-9D8E-66DA30806CAC}" sibTransId="{9C1584D4-1A2F-48A4-9B4D-D3FD27535AC7}"/>
    <dgm:cxn modelId="{D521FA4B-6311-4F24-984A-0647D0296E24}" srcId="{FF403256-8288-4E5D-9FAD-48829668DE6E}" destId="{32FB425D-7761-4FC3-A783-17DA62E141DC}" srcOrd="0" destOrd="0" parTransId="{E65E0542-D9EA-433F-B24B-7747742B8331}" sibTransId="{73F3B9A8-5766-4B96-B322-C59088AC2305}"/>
    <dgm:cxn modelId="{C0A76B53-0DD4-45A4-A407-CFA40FAE95C8}" srcId="{32FB425D-7761-4FC3-A783-17DA62E141DC}" destId="{6858A127-6648-4AF2-817E-4DF36243EA6D}" srcOrd="0" destOrd="0" parTransId="{7B7F4145-55D5-4C3E-8555-13EDCB8415CB}" sibTransId="{4FDE2DFD-CDD2-4D67-970C-297423F7788E}"/>
    <dgm:cxn modelId="{26347356-1BFF-4317-9733-AB04B7AF269D}" type="presOf" srcId="{32FB425D-7761-4FC3-A783-17DA62E141DC}" destId="{6FDC8CBE-F804-44B3-A8A4-33475065B0A1}" srcOrd="1" destOrd="0" presId="urn:microsoft.com/office/officeart/2005/8/layout/orgChart1"/>
    <dgm:cxn modelId="{74FF7F59-AA7F-4508-BDFE-8C3394683657}" type="presOf" srcId="{AEFBB7D4-E7A5-4F4A-B7C9-B6EC759EA107}" destId="{B1B6F388-BE9A-4690-9308-A16EA12CF4B0}" srcOrd="1" destOrd="0" presId="urn:microsoft.com/office/officeart/2005/8/layout/orgChart1"/>
    <dgm:cxn modelId="{AB1E217F-4AAB-4D8C-A6F8-4D2F3C527EB7}" type="presOf" srcId="{AEFBB7D4-E7A5-4F4A-B7C9-B6EC759EA107}" destId="{4F77F00C-6B90-481F-9B29-EA3A1EEFB442}" srcOrd="0" destOrd="0" presId="urn:microsoft.com/office/officeart/2005/8/layout/orgChart1"/>
    <dgm:cxn modelId="{27E18696-3BB5-4046-8656-0735C9E6944C}" srcId="{32FB425D-7761-4FC3-A783-17DA62E141DC}" destId="{AEFBB7D4-E7A5-4F4A-B7C9-B6EC759EA107}" srcOrd="1" destOrd="0" parTransId="{9C3C8272-26F4-461A-872E-BB4FD9F148FE}" sibTransId="{3FD07CB9-10FB-452A-AA84-CC0C9BBB999D}"/>
    <dgm:cxn modelId="{232E0C9A-FBCA-43F4-8B5C-1FB34561DDA9}" type="presOf" srcId="{FF403256-8288-4E5D-9FAD-48829668DE6E}" destId="{6791CA3B-8175-405F-87B3-F675360D869E}" srcOrd="0" destOrd="0" presId="urn:microsoft.com/office/officeart/2005/8/layout/orgChart1"/>
    <dgm:cxn modelId="{CF2EC4BE-D49B-4C21-B695-0370DE72BD68}" type="presOf" srcId="{1946F78D-F39A-478A-9F8A-8AC6B9813350}" destId="{CB140DAD-C841-43CE-99DC-40EF28635CED}" srcOrd="0" destOrd="0" presId="urn:microsoft.com/office/officeart/2005/8/layout/orgChart1"/>
    <dgm:cxn modelId="{FCC974C3-1C47-4B2D-980D-CBAF07574FE9}" type="presOf" srcId="{32FB425D-7761-4FC3-A783-17DA62E141DC}" destId="{588B40B7-F715-4E21-A9C9-4452F7F38222}" srcOrd="0" destOrd="0" presId="urn:microsoft.com/office/officeart/2005/8/layout/orgChart1"/>
    <dgm:cxn modelId="{061B9DCA-BFFA-4310-AE6D-C428AB92009B}" type="presOf" srcId="{6858A127-6648-4AF2-817E-4DF36243EA6D}" destId="{12106461-AEB2-4284-8070-F2264D1165EC}" srcOrd="0" destOrd="0" presId="urn:microsoft.com/office/officeart/2005/8/layout/orgChart1"/>
    <dgm:cxn modelId="{954602EE-94C7-4D9B-988E-BEF9119D664C}" type="presOf" srcId="{1946F78D-F39A-478A-9F8A-8AC6B9813350}" destId="{C9A1EDF7-E0DE-4BA3-8D60-8BADE90070D2}" srcOrd="1" destOrd="0" presId="urn:microsoft.com/office/officeart/2005/8/layout/orgChart1"/>
    <dgm:cxn modelId="{A52A3F45-8000-4EC6-B7EB-9605E1976A65}" type="presParOf" srcId="{6791CA3B-8175-405F-87B3-F675360D869E}" destId="{C2D53C1F-E3D3-4EC1-B876-4A4979E111EB}" srcOrd="0" destOrd="0" presId="urn:microsoft.com/office/officeart/2005/8/layout/orgChart1"/>
    <dgm:cxn modelId="{C3BC991E-2C3C-4467-849B-AD362AAC6648}" type="presParOf" srcId="{C2D53C1F-E3D3-4EC1-B876-4A4979E111EB}" destId="{D74B41F9-A1D3-41D9-9C3C-C15DAF967931}" srcOrd="0" destOrd="0" presId="urn:microsoft.com/office/officeart/2005/8/layout/orgChart1"/>
    <dgm:cxn modelId="{3C33D681-7B7E-4A8F-AD14-CFC76D6E376C}" type="presParOf" srcId="{D74B41F9-A1D3-41D9-9C3C-C15DAF967931}" destId="{588B40B7-F715-4E21-A9C9-4452F7F38222}" srcOrd="0" destOrd="0" presId="urn:microsoft.com/office/officeart/2005/8/layout/orgChart1"/>
    <dgm:cxn modelId="{CF79957F-6F87-49ED-AC7F-DA85407E2DB0}" type="presParOf" srcId="{D74B41F9-A1D3-41D9-9C3C-C15DAF967931}" destId="{6FDC8CBE-F804-44B3-A8A4-33475065B0A1}" srcOrd="1" destOrd="0" presId="urn:microsoft.com/office/officeart/2005/8/layout/orgChart1"/>
    <dgm:cxn modelId="{65FCC4DC-ADD4-4893-96D2-B1AA8A2EA85D}" type="presParOf" srcId="{C2D53C1F-E3D3-4EC1-B876-4A4979E111EB}" destId="{07309C07-B554-42E9-AEE9-D231C8731A92}" srcOrd="1" destOrd="0" presId="urn:microsoft.com/office/officeart/2005/8/layout/orgChart1"/>
    <dgm:cxn modelId="{EA21C463-FE8A-4255-8C47-3CBEC751B71E}" type="presParOf" srcId="{07309C07-B554-42E9-AEE9-D231C8731A92}" destId="{2AF55B39-F730-4D07-AD4E-4305DA521F00}" srcOrd="0" destOrd="0" presId="urn:microsoft.com/office/officeart/2005/8/layout/orgChart1"/>
    <dgm:cxn modelId="{982EF7D6-18C9-4C15-9F3E-AD0D10936AF9}" type="presParOf" srcId="{07309C07-B554-42E9-AEE9-D231C8731A92}" destId="{A8F3AE2B-1677-47C2-BABD-FABA8862B467}" srcOrd="1" destOrd="0" presId="urn:microsoft.com/office/officeart/2005/8/layout/orgChart1"/>
    <dgm:cxn modelId="{DE2B2D0B-3642-4F67-A767-9A58E7C87E07}" type="presParOf" srcId="{A8F3AE2B-1677-47C2-BABD-FABA8862B467}" destId="{9B459BD4-0762-4ED6-A975-A89984CC4E88}" srcOrd="0" destOrd="0" presId="urn:microsoft.com/office/officeart/2005/8/layout/orgChart1"/>
    <dgm:cxn modelId="{37364C1D-29B1-4183-961E-10E70B9DE5F1}" type="presParOf" srcId="{9B459BD4-0762-4ED6-A975-A89984CC4E88}" destId="{12106461-AEB2-4284-8070-F2264D1165EC}" srcOrd="0" destOrd="0" presId="urn:microsoft.com/office/officeart/2005/8/layout/orgChart1"/>
    <dgm:cxn modelId="{0A03D59F-5459-46EE-8A5D-DF056FBA2418}" type="presParOf" srcId="{9B459BD4-0762-4ED6-A975-A89984CC4E88}" destId="{24C958B2-3B27-4BEC-9B3C-2C1AFC57D685}" srcOrd="1" destOrd="0" presId="urn:microsoft.com/office/officeart/2005/8/layout/orgChart1"/>
    <dgm:cxn modelId="{9CA8E781-FA22-42B7-BA9D-AF89ECAE8FA9}" type="presParOf" srcId="{A8F3AE2B-1677-47C2-BABD-FABA8862B467}" destId="{54AE3DA7-1A14-4229-9CF2-2AF7550C0107}" srcOrd="1" destOrd="0" presId="urn:microsoft.com/office/officeart/2005/8/layout/orgChart1"/>
    <dgm:cxn modelId="{43095A86-5990-4436-ACCF-37926C5394A9}" type="presParOf" srcId="{A8F3AE2B-1677-47C2-BABD-FABA8862B467}" destId="{97F776F2-7A47-4334-BFF0-1FD85813B2B2}" srcOrd="2" destOrd="0" presId="urn:microsoft.com/office/officeart/2005/8/layout/orgChart1"/>
    <dgm:cxn modelId="{FF29A6C0-C66F-4162-B33C-1D2DEC45DD36}" type="presParOf" srcId="{07309C07-B554-42E9-AEE9-D231C8731A92}" destId="{6F905A9A-3FA7-4D77-8588-75F09F3B1AEE}" srcOrd="2" destOrd="0" presId="urn:microsoft.com/office/officeart/2005/8/layout/orgChart1"/>
    <dgm:cxn modelId="{4A5F663F-CBBF-4C13-8A6D-2EF9CF44C9D4}" type="presParOf" srcId="{07309C07-B554-42E9-AEE9-D231C8731A92}" destId="{25F6955D-3DC5-4069-BA22-417103B02036}" srcOrd="3" destOrd="0" presId="urn:microsoft.com/office/officeart/2005/8/layout/orgChart1"/>
    <dgm:cxn modelId="{94C960B1-2137-413F-8D08-6C8D5DAD323B}" type="presParOf" srcId="{25F6955D-3DC5-4069-BA22-417103B02036}" destId="{DE4919B3-51E4-4B29-A15B-E9F079FACFE3}" srcOrd="0" destOrd="0" presId="urn:microsoft.com/office/officeart/2005/8/layout/orgChart1"/>
    <dgm:cxn modelId="{B0C0609D-A450-4B25-ADC2-D71E215B8C7E}" type="presParOf" srcId="{DE4919B3-51E4-4B29-A15B-E9F079FACFE3}" destId="{4F77F00C-6B90-481F-9B29-EA3A1EEFB442}" srcOrd="0" destOrd="0" presId="urn:microsoft.com/office/officeart/2005/8/layout/orgChart1"/>
    <dgm:cxn modelId="{7B646505-A36A-497B-9B0C-8D43CDE3E108}" type="presParOf" srcId="{DE4919B3-51E4-4B29-A15B-E9F079FACFE3}" destId="{B1B6F388-BE9A-4690-9308-A16EA12CF4B0}" srcOrd="1" destOrd="0" presId="urn:microsoft.com/office/officeart/2005/8/layout/orgChart1"/>
    <dgm:cxn modelId="{FAC094E2-219C-44DC-8531-C2AFD306D026}" type="presParOf" srcId="{25F6955D-3DC5-4069-BA22-417103B02036}" destId="{5D10FFAF-89B4-4427-BA56-2D13E2B8BCA4}" srcOrd="1" destOrd="0" presId="urn:microsoft.com/office/officeart/2005/8/layout/orgChart1"/>
    <dgm:cxn modelId="{DBF8C7C7-6A6E-4D68-9E71-C0A37DDD906B}" type="presParOf" srcId="{25F6955D-3DC5-4069-BA22-417103B02036}" destId="{EEB6CCA9-A7CF-4E26-B0BA-9FBCF15A33D6}" srcOrd="2" destOrd="0" presId="urn:microsoft.com/office/officeart/2005/8/layout/orgChart1"/>
    <dgm:cxn modelId="{A82A4692-41F7-4911-A5FB-FE5C765AF235}" type="presParOf" srcId="{07309C07-B554-42E9-AEE9-D231C8731A92}" destId="{BD46BFCF-C8BA-4371-8AA6-8CEB2A44F5C3}" srcOrd="4" destOrd="0" presId="urn:microsoft.com/office/officeart/2005/8/layout/orgChart1"/>
    <dgm:cxn modelId="{9AB78724-B9A8-434E-9393-C054267BCC2A}" type="presParOf" srcId="{07309C07-B554-42E9-AEE9-D231C8731A92}" destId="{B949E3AD-7579-424F-AB5B-13EECE46F1E2}" srcOrd="5" destOrd="0" presId="urn:microsoft.com/office/officeart/2005/8/layout/orgChart1"/>
    <dgm:cxn modelId="{3B0C711C-5E16-4FF4-9B38-0EF635A2F553}" type="presParOf" srcId="{B949E3AD-7579-424F-AB5B-13EECE46F1E2}" destId="{D71CCB63-0892-4077-A515-72E4BE1855CA}" srcOrd="0" destOrd="0" presId="urn:microsoft.com/office/officeart/2005/8/layout/orgChart1"/>
    <dgm:cxn modelId="{FC2F5113-8829-4CB8-8C8B-A0894F1012E2}" type="presParOf" srcId="{D71CCB63-0892-4077-A515-72E4BE1855CA}" destId="{CB140DAD-C841-43CE-99DC-40EF28635CED}" srcOrd="0" destOrd="0" presId="urn:microsoft.com/office/officeart/2005/8/layout/orgChart1"/>
    <dgm:cxn modelId="{1117D078-392F-4619-AD36-A40B0B846606}" type="presParOf" srcId="{D71CCB63-0892-4077-A515-72E4BE1855CA}" destId="{C9A1EDF7-E0DE-4BA3-8D60-8BADE90070D2}" srcOrd="1" destOrd="0" presId="urn:microsoft.com/office/officeart/2005/8/layout/orgChart1"/>
    <dgm:cxn modelId="{0669C3EE-B8E1-4F9C-9C79-509D752BA4F2}" type="presParOf" srcId="{B949E3AD-7579-424F-AB5B-13EECE46F1E2}" destId="{0245F3C0-B775-47DF-A548-17FBCCF7A2AA}" srcOrd="1" destOrd="0" presId="urn:microsoft.com/office/officeart/2005/8/layout/orgChart1"/>
    <dgm:cxn modelId="{48ABE5AC-9FD4-48F2-9373-6294A0744E52}" type="presParOf" srcId="{B949E3AD-7579-424F-AB5B-13EECE46F1E2}" destId="{92CBCE88-1DB5-4245-8AC5-6FF53380AD4A}" srcOrd="2" destOrd="0" presId="urn:microsoft.com/office/officeart/2005/8/layout/orgChart1"/>
    <dgm:cxn modelId="{4944767C-7FD7-47F3-9ECA-2E275C6CAEC6}" type="presParOf" srcId="{C2D53C1F-E3D3-4EC1-B876-4A4979E111EB}" destId="{A12C6DA0-12EC-4C2F-95C2-CAFDA6C92D4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46BFCF-C8BA-4371-8AA6-8CEB2A44F5C3}">
      <dsp:nvSpPr>
        <dsp:cNvPr id="0" name=""/>
        <dsp:cNvSpPr/>
      </dsp:nvSpPr>
      <dsp:spPr>
        <a:xfrm>
          <a:off x="4760118" y="1432570"/>
          <a:ext cx="3367818" cy="584497"/>
        </a:xfrm>
        <a:custGeom>
          <a:avLst/>
          <a:gdLst/>
          <a:ahLst/>
          <a:cxnLst/>
          <a:rect l="0" t="0" r="0" b="0"/>
          <a:pathLst>
            <a:path>
              <a:moveTo>
                <a:pt x="0" y="0"/>
              </a:moveTo>
              <a:lnTo>
                <a:pt x="0" y="292248"/>
              </a:lnTo>
              <a:lnTo>
                <a:pt x="3367818" y="292248"/>
              </a:lnTo>
              <a:lnTo>
                <a:pt x="3367818" y="58449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905A9A-3FA7-4D77-8588-75F09F3B1AEE}">
      <dsp:nvSpPr>
        <dsp:cNvPr id="0" name=""/>
        <dsp:cNvSpPr/>
      </dsp:nvSpPr>
      <dsp:spPr>
        <a:xfrm>
          <a:off x="4714398" y="1432570"/>
          <a:ext cx="91440" cy="584497"/>
        </a:xfrm>
        <a:custGeom>
          <a:avLst/>
          <a:gdLst/>
          <a:ahLst/>
          <a:cxnLst/>
          <a:rect l="0" t="0" r="0" b="0"/>
          <a:pathLst>
            <a:path>
              <a:moveTo>
                <a:pt x="45720" y="0"/>
              </a:moveTo>
              <a:lnTo>
                <a:pt x="45720" y="58449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F55B39-F730-4D07-AD4E-4305DA521F00}">
      <dsp:nvSpPr>
        <dsp:cNvPr id="0" name=""/>
        <dsp:cNvSpPr/>
      </dsp:nvSpPr>
      <dsp:spPr>
        <a:xfrm>
          <a:off x="1392299" y="1432570"/>
          <a:ext cx="3367818" cy="584497"/>
        </a:xfrm>
        <a:custGeom>
          <a:avLst/>
          <a:gdLst/>
          <a:ahLst/>
          <a:cxnLst/>
          <a:rect l="0" t="0" r="0" b="0"/>
          <a:pathLst>
            <a:path>
              <a:moveTo>
                <a:pt x="3367818" y="0"/>
              </a:moveTo>
              <a:lnTo>
                <a:pt x="3367818" y="292248"/>
              </a:lnTo>
              <a:lnTo>
                <a:pt x="0" y="292248"/>
              </a:lnTo>
              <a:lnTo>
                <a:pt x="0" y="58449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8B40B7-F715-4E21-A9C9-4452F7F38222}">
      <dsp:nvSpPr>
        <dsp:cNvPr id="0" name=""/>
        <dsp:cNvSpPr/>
      </dsp:nvSpPr>
      <dsp:spPr>
        <a:xfrm>
          <a:off x="1952651" y="40909"/>
          <a:ext cx="5614933" cy="13916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GB" sz="4000" kern="1200" dirty="0"/>
            <a:t>Design Pattern</a:t>
          </a:r>
          <a:endParaRPr lang="en-IN" sz="4000" kern="1200" dirty="0"/>
        </a:p>
      </dsp:txBody>
      <dsp:txXfrm>
        <a:off x="1952651" y="40909"/>
        <a:ext cx="5614933" cy="1391660"/>
      </dsp:txXfrm>
    </dsp:sp>
    <dsp:sp modelId="{12106461-AEB2-4284-8070-F2264D1165EC}">
      <dsp:nvSpPr>
        <dsp:cNvPr id="0" name=""/>
        <dsp:cNvSpPr/>
      </dsp:nvSpPr>
      <dsp:spPr>
        <a:xfrm>
          <a:off x="639" y="2017067"/>
          <a:ext cx="2783321" cy="13916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GB" sz="4000" kern="1200" dirty="0"/>
            <a:t>Creational</a:t>
          </a:r>
          <a:endParaRPr lang="en-IN" sz="4000" kern="1200" dirty="0"/>
        </a:p>
      </dsp:txBody>
      <dsp:txXfrm>
        <a:off x="639" y="2017067"/>
        <a:ext cx="2783321" cy="1391660"/>
      </dsp:txXfrm>
    </dsp:sp>
    <dsp:sp modelId="{4F77F00C-6B90-481F-9B29-EA3A1EEFB442}">
      <dsp:nvSpPr>
        <dsp:cNvPr id="0" name=""/>
        <dsp:cNvSpPr/>
      </dsp:nvSpPr>
      <dsp:spPr>
        <a:xfrm>
          <a:off x="3368457" y="2017067"/>
          <a:ext cx="2783321" cy="13916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GB" sz="4000" kern="1200" dirty="0"/>
            <a:t>Structural</a:t>
          </a:r>
          <a:endParaRPr lang="en-IN" sz="4000" kern="1200" dirty="0"/>
        </a:p>
      </dsp:txBody>
      <dsp:txXfrm>
        <a:off x="3368457" y="2017067"/>
        <a:ext cx="2783321" cy="1391660"/>
      </dsp:txXfrm>
    </dsp:sp>
    <dsp:sp modelId="{CB140DAD-C841-43CE-99DC-40EF28635CED}">
      <dsp:nvSpPr>
        <dsp:cNvPr id="0" name=""/>
        <dsp:cNvSpPr/>
      </dsp:nvSpPr>
      <dsp:spPr>
        <a:xfrm>
          <a:off x="6736276" y="2017067"/>
          <a:ext cx="2783321" cy="139166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GB" sz="4000" kern="1200" dirty="0"/>
            <a:t>Behavioural</a:t>
          </a:r>
          <a:endParaRPr lang="en-IN" sz="4000" kern="1200" dirty="0"/>
        </a:p>
      </dsp:txBody>
      <dsp:txXfrm>
        <a:off x="6736276" y="2017067"/>
        <a:ext cx="2783321" cy="139166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6F97D-E743-4D26-9843-05E59BE4BE19}"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0F3A74-C17B-43BC-9A86-0DDEA10726F0}" type="slidenum">
              <a:rPr lang="en-IN" smtClean="0"/>
              <a:t>‹#›</a:t>
            </a:fld>
            <a:endParaRPr lang="en-IN"/>
          </a:p>
        </p:txBody>
      </p:sp>
    </p:spTree>
    <p:extLst>
      <p:ext uri="{BB962C8B-B14F-4D97-AF65-F5344CB8AC3E}">
        <p14:creationId xmlns:p14="http://schemas.microsoft.com/office/powerpoint/2010/main" val="3912547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20F3A74-C17B-43BC-9A86-0DDEA10726F0}" type="slidenum">
              <a:rPr lang="en-IN" smtClean="0"/>
              <a:t>1</a:t>
            </a:fld>
            <a:endParaRPr lang="en-IN"/>
          </a:p>
        </p:txBody>
      </p:sp>
    </p:spTree>
    <p:extLst>
      <p:ext uri="{BB962C8B-B14F-4D97-AF65-F5344CB8AC3E}">
        <p14:creationId xmlns:p14="http://schemas.microsoft.com/office/powerpoint/2010/main" val="3964780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23BF71-38B7-8642-BFCE-EDAE9BD0CBAF}" type="datetimeFigureOut">
              <a:rPr lang="en-US" dirty="0"/>
              <a:t>7/10/2026</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2119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981CDE-9BE7-C544-8ACB-7077DFC4270F}" type="datetimeFigureOut">
              <a:rPr lang="en-US" dirty="0"/>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008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5BA285-9698-1B45-8319-D90A8C63F150}" type="datetimeFigureOut">
              <a:rPr lang="en-US" dirty="0"/>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3242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6CD42-43FF-B740-998F-DCC3802C4CE3}" type="datetimeFigureOut">
              <a:rPr lang="en-US" dirty="0"/>
              <a:t>7/10/2026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097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A0FFBD-2EE4-8547-BBAE-A1AC91C8D77E}" type="datetimeFigureOut">
              <a:rPr lang="en-US" dirty="0"/>
              <a:t>7/10/2026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0454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5A2352-D7AC-F242-9256-A4477BCBF354}" type="datetimeFigureOut">
              <a:rPr lang="en-US" dirty="0"/>
              <a:t>7/10/2026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3932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FC6A-9AE6-404D-9FDD-168B477B9C90}" type="datetimeFigureOut">
              <a:rPr lang="en-US" dirty="0"/>
              <a:t>7/10/2026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63871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CFCDFD-B4CF-A241-8D71-E814B10BEAF4}" type="datetimeFigureOut">
              <a:rPr lang="en-US" dirty="0"/>
              <a:t>7/10/2026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2801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6A7B589-FD4B-7E46-869A-CBADC5FC564E}" type="datetimeFigureOut">
              <a:rPr lang="en-US" dirty="0"/>
              <a:t>7/10/2026</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3496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B025CB-9D18-264E-A945-2D020344C9DA}" type="datetimeFigureOut">
              <a:rPr lang="en-US" dirty="0"/>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5537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7EFB6C-7E96-8F41-8872-189CA1C59F84}" type="datetimeFigureOut">
              <a:rPr lang="en-US" dirty="0"/>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5986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Data Filtering</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B3C3680-ED89-4D93-BF65-EDCBA42CAB35}"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973493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Joins</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EDD35BF-D3F2-4436-A3A2-CDBCB2A0C7CF}"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64976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Set Operators</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611BF0-225A-4DCB-B032-9C605CFE5B24}"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49408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View in MS SQL Server</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093A9F0-0B9D-4B3E-9905-D2A2EC895DA4}"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5126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49CED5-A06E-4DB9-83C6-484D659A6B20}"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95249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Triggers</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958AE44-47B0-4B3C-9293-B4DCA0C6DA0E}" type="datetime1">
              <a:rPr lang="en-US" smtClean="0"/>
              <a:t>7/10/2026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52847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9"/>
          <a:srcRect t="2769" b="-2769"/>
          <a:stretch/>
        </p:blipFill>
        <p:spPr>
          <a:xfrm>
            <a:off x="0" y="6153379"/>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CD8A92E-5FF9-8143-81B3-CCB531513398}" type="datetimeFigureOut">
              <a:rPr lang="en-US" dirty="0"/>
              <a:t>7/10/2026</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091E878-E5C3-99B4-F886-789D30A40E7A}"/>
              </a:ext>
            </a:extLst>
          </p:cNvPr>
          <p:cNvPicPr>
            <a:picLocks noChangeAspect="1"/>
          </p:cNvPicPr>
          <p:nvPr userDrawn="1"/>
        </p:nvPicPr>
        <p:blipFill>
          <a:blip r:embed="rId20"/>
          <a:stretch>
            <a:fillRect/>
          </a:stretch>
        </p:blipFill>
        <p:spPr>
          <a:xfrm>
            <a:off x="9995921" y="6211669"/>
            <a:ext cx="2117864" cy="557704"/>
          </a:xfrm>
          <a:prstGeom prst="rect">
            <a:avLst/>
          </a:prstGeom>
        </p:spPr>
      </p:pic>
      <p:pic>
        <p:nvPicPr>
          <p:cNvPr id="11" name="Picture 10" descr="prc_logo">
            <a:extLst>
              <a:ext uri="{FF2B5EF4-FFF2-40B4-BE49-F238E27FC236}">
                <a16:creationId xmlns:a16="http://schemas.microsoft.com/office/drawing/2014/main" id="{8B45B65D-BF2F-A5C3-9BA4-943FEF3E2FA7}"/>
              </a:ext>
            </a:extLst>
          </p:cNvPr>
          <p:cNvPicPr>
            <a:picLocks noChangeAspect="1"/>
          </p:cNvPicPr>
          <p:nvPr userDrawn="1"/>
        </p:nvPicPr>
        <p:blipFill>
          <a:blip r:embed="rId21"/>
          <a:stretch>
            <a:fillRect/>
          </a:stretch>
        </p:blipFill>
        <p:spPr>
          <a:xfrm>
            <a:off x="78215" y="6211669"/>
            <a:ext cx="2117864" cy="582413"/>
          </a:xfrm>
          <a:prstGeom prst="rect">
            <a:avLst/>
          </a:prstGeom>
        </p:spPr>
      </p:pic>
    </p:spTree>
    <p:extLst>
      <p:ext uri="{BB962C8B-B14F-4D97-AF65-F5344CB8AC3E}">
        <p14:creationId xmlns:p14="http://schemas.microsoft.com/office/powerpoint/2010/main" val="411974396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 id="2147483688" r:id="rId14"/>
    <p:sldLayoutId id="2147483689" r:id="rId15"/>
    <p:sldLayoutId id="2147483690" r:id="rId16"/>
    <p:sldLayoutId id="2147483691" r:id="rId17"/>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15E9-8113-85E2-68F8-0AD2FF47B774}"/>
              </a:ext>
            </a:extLst>
          </p:cNvPr>
          <p:cNvSpPr>
            <a:spLocks noGrp="1"/>
          </p:cNvSpPr>
          <p:nvPr>
            <p:ph type="ctrTitle"/>
          </p:nvPr>
        </p:nvSpPr>
        <p:spPr/>
        <p:txBody>
          <a:bodyPr>
            <a:normAutofit fontScale="90000"/>
          </a:bodyPr>
          <a:lstStyle/>
          <a:p>
            <a:r>
              <a:rPr lang="en-GB" dirty="0"/>
              <a:t>S</a:t>
            </a:r>
            <a:r>
              <a:rPr lang="en-IN" dirty="0" err="1"/>
              <a:t>oftware</a:t>
            </a:r>
            <a:r>
              <a:rPr lang="en-IN" dirty="0"/>
              <a:t> Design with Design Principle and Design Pattern</a:t>
            </a:r>
          </a:p>
        </p:txBody>
      </p:sp>
      <p:sp>
        <p:nvSpPr>
          <p:cNvPr id="3" name="Subtitle 2">
            <a:extLst>
              <a:ext uri="{FF2B5EF4-FFF2-40B4-BE49-F238E27FC236}">
                <a16:creationId xmlns:a16="http://schemas.microsoft.com/office/drawing/2014/main" id="{69C08C16-4375-4442-80D3-FCCCB2C4EA01}"/>
              </a:ext>
            </a:extLst>
          </p:cNvPr>
          <p:cNvSpPr>
            <a:spLocks noGrp="1"/>
          </p:cNvSpPr>
          <p:nvPr>
            <p:ph type="subTitle" idx="1"/>
          </p:nvPr>
        </p:nvSpPr>
        <p:spPr/>
        <p:txBody>
          <a:bodyPr/>
          <a:lstStyle/>
          <a:p>
            <a:r>
              <a:rPr lang="en-US" dirty="0"/>
              <a:t>Trainer: Sourav Maitra</a:t>
            </a:r>
            <a:endParaRPr lang="en-IN" dirty="0"/>
          </a:p>
        </p:txBody>
      </p:sp>
    </p:spTree>
    <p:extLst>
      <p:ext uri="{BB962C8B-B14F-4D97-AF65-F5344CB8AC3E}">
        <p14:creationId xmlns:p14="http://schemas.microsoft.com/office/powerpoint/2010/main" val="402217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E2CD-50D3-6AF7-DC74-492C03D422CD}"/>
              </a:ext>
            </a:extLst>
          </p:cNvPr>
          <p:cNvSpPr>
            <a:spLocks noGrp="1"/>
          </p:cNvSpPr>
          <p:nvPr>
            <p:ph type="title"/>
          </p:nvPr>
        </p:nvSpPr>
        <p:spPr/>
        <p:txBody>
          <a:bodyPr/>
          <a:lstStyle/>
          <a:p>
            <a:r>
              <a:rPr lang="en-US" dirty="0"/>
              <a:t>Road Map </a:t>
            </a:r>
            <a:endParaRPr lang="en-IN" dirty="0"/>
          </a:p>
        </p:txBody>
      </p:sp>
      <p:sp>
        <p:nvSpPr>
          <p:cNvPr id="3" name="Content Placeholder 2">
            <a:extLst>
              <a:ext uri="{FF2B5EF4-FFF2-40B4-BE49-F238E27FC236}">
                <a16:creationId xmlns:a16="http://schemas.microsoft.com/office/drawing/2014/main" id="{38777935-B810-4985-B8B6-B554A6DBF446}"/>
              </a:ext>
            </a:extLst>
          </p:cNvPr>
          <p:cNvSpPr>
            <a:spLocks noGrp="1"/>
          </p:cNvSpPr>
          <p:nvPr>
            <p:ph idx="1"/>
          </p:nvPr>
        </p:nvSpPr>
        <p:spPr>
          <a:xfrm>
            <a:off x="1534696" y="2015732"/>
            <a:ext cx="9520158" cy="2895315"/>
          </a:xfrm>
        </p:spPr>
        <p:txBody>
          <a:bodyPr>
            <a:normAutofit fontScale="92500" lnSpcReduction="20000"/>
          </a:bodyPr>
          <a:lstStyle/>
          <a:p>
            <a:r>
              <a:rPr lang="en-US" b="1" dirty="0"/>
              <a:t>Software Design Principle </a:t>
            </a:r>
          </a:p>
          <a:p>
            <a:r>
              <a:rPr lang="en-US" b="1" dirty="0"/>
              <a:t>Software Design Patterns </a:t>
            </a:r>
          </a:p>
          <a:p>
            <a:r>
              <a:rPr lang="en-US" b="1" dirty="0"/>
              <a:t>SOLID</a:t>
            </a:r>
          </a:p>
          <a:p>
            <a:r>
              <a:rPr lang="en-US" b="1" dirty="0"/>
              <a:t>Design Patterns Introduction Need and Benefits of Design Patterns</a:t>
            </a:r>
          </a:p>
          <a:p>
            <a:r>
              <a:rPr lang="en-US" b="1" dirty="0"/>
              <a:t>Design Patterns - Creational:  Singleton, Factory, Abstract Factory</a:t>
            </a:r>
          </a:p>
          <a:p>
            <a:r>
              <a:rPr lang="en-US" b="1" dirty="0"/>
              <a:t>Design Patterns - Structural:  Adapter, Decorator, Bridge, Façade</a:t>
            </a:r>
          </a:p>
          <a:p>
            <a:r>
              <a:rPr lang="en-US" b="1" dirty="0"/>
              <a:t>Design Patterns - Behavioral:  Chain of Responsibility,   Mediator, Observer</a:t>
            </a:r>
          </a:p>
          <a:p>
            <a:endParaRPr lang="en-US" b="1" dirty="0"/>
          </a:p>
          <a:p>
            <a:endParaRPr lang="en-US" b="1" dirty="0"/>
          </a:p>
        </p:txBody>
      </p:sp>
    </p:spTree>
    <p:extLst>
      <p:ext uri="{BB962C8B-B14F-4D97-AF65-F5344CB8AC3E}">
        <p14:creationId xmlns:p14="http://schemas.microsoft.com/office/powerpoint/2010/main" val="209098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178F4-B5AB-E594-C4F2-2413D6CD1319}"/>
              </a:ext>
            </a:extLst>
          </p:cNvPr>
          <p:cNvSpPr>
            <a:spLocks noGrp="1"/>
          </p:cNvSpPr>
          <p:nvPr>
            <p:ph type="title"/>
          </p:nvPr>
        </p:nvSpPr>
        <p:spPr/>
        <p:txBody>
          <a:bodyPr/>
          <a:lstStyle/>
          <a:p>
            <a:r>
              <a:rPr lang="en-US" b="1" dirty="0"/>
              <a:t>Software Design Principle </a:t>
            </a:r>
            <a:endParaRPr lang="en-IN" dirty="0"/>
          </a:p>
        </p:txBody>
      </p:sp>
      <p:sp>
        <p:nvSpPr>
          <p:cNvPr id="3" name="Content Placeholder 2">
            <a:extLst>
              <a:ext uri="{FF2B5EF4-FFF2-40B4-BE49-F238E27FC236}">
                <a16:creationId xmlns:a16="http://schemas.microsoft.com/office/drawing/2014/main" id="{12FC3B1B-B617-BB30-2E88-7FA5EBB64ECA}"/>
              </a:ext>
            </a:extLst>
          </p:cNvPr>
          <p:cNvSpPr>
            <a:spLocks noGrp="1"/>
          </p:cNvSpPr>
          <p:nvPr>
            <p:ph idx="1"/>
          </p:nvPr>
        </p:nvSpPr>
        <p:spPr/>
        <p:txBody>
          <a:bodyPr/>
          <a:lstStyle/>
          <a:p>
            <a:r>
              <a:rPr lang="en-GB" b="1" dirty="0"/>
              <a:t>Principles</a:t>
            </a:r>
            <a:r>
              <a:rPr lang="en-GB" dirty="0"/>
              <a:t> are abstract guidelines or rules that help developers write better code</a:t>
            </a:r>
          </a:p>
          <a:p>
            <a:r>
              <a:rPr lang="en-GB" dirty="0"/>
              <a:t>They provide a framework for making design decisions but don't prescribe specific implementations.</a:t>
            </a:r>
          </a:p>
          <a:p>
            <a:r>
              <a:rPr lang="en-IN" dirty="0"/>
              <a:t>Examples</a:t>
            </a:r>
            <a:endParaRPr lang="en-GB" dirty="0"/>
          </a:p>
          <a:p>
            <a:pPr lvl="1"/>
            <a:r>
              <a:rPr lang="en-GB" dirty="0"/>
              <a:t>SOLID(Single Responsibility, Open-Closed, </a:t>
            </a:r>
            <a:r>
              <a:rPr lang="en-GB" dirty="0" err="1"/>
              <a:t>Liskov</a:t>
            </a:r>
            <a:r>
              <a:rPr lang="en-GB" dirty="0"/>
              <a:t> Substitution, Interface Segregation, Dependency Inversion)</a:t>
            </a:r>
          </a:p>
          <a:p>
            <a:pPr lvl="1"/>
            <a:r>
              <a:rPr lang="en-GB" dirty="0"/>
              <a:t>DRY(Do not Repeat Yourself)</a:t>
            </a:r>
          </a:p>
          <a:p>
            <a:pPr lvl="1"/>
            <a:r>
              <a:rPr lang="en-GB" dirty="0"/>
              <a:t>KISS (Keep It Short and Simple)</a:t>
            </a:r>
            <a:endParaRPr lang="en-IN" dirty="0"/>
          </a:p>
        </p:txBody>
      </p:sp>
    </p:spTree>
    <p:extLst>
      <p:ext uri="{BB962C8B-B14F-4D97-AF65-F5344CB8AC3E}">
        <p14:creationId xmlns:p14="http://schemas.microsoft.com/office/powerpoint/2010/main" val="781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calcmode="lin" valueType="num">
                                      <p:cBhvr additive="base">
                                        <p:cTn id="3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additive="base">
                                        <p:cTn id="3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63E2-E4E5-8364-62C9-BD355AACD015}"/>
              </a:ext>
            </a:extLst>
          </p:cNvPr>
          <p:cNvSpPr>
            <a:spLocks noGrp="1"/>
          </p:cNvSpPr>
          <p:nvPr>
            <p:ph type="title"/>
          </p:nvPr>
        </p:nvSpPr>
        <p:spPr/>
        <p:txBody>
          <a:bodyPr/>
          <a:lstStyle/>
          <a:p>
            <a:r>
              <a:rPr lang="en-US" b="1" dirty="0"/>
              <a:t>Software Design Patterns </a:t>
            </a:r>
            <a:endParaRPr lang="en-IN" dirty="0"/>
          </a:p>
        </p:txBody>
      </p:sp>
      <p:sp>
        <p:nvSpPr>
          <p:cNvPr id="3" name="Content Placeholder 2">
            <a:extLst>
              <a:ext uri="{FF2B5EF4-FFF2-40B4-BE49-F238E27FC236}">
                <a16:creationId xmlns:a16="http://schemas.microsoft.com/office/drawing/2014/main" id="{D07A1A7D-C309-8705-5173-177A8699EADD}"/>
              </a:ext>
            </a:extLst>
          </p:cNvPr>
          <p:cNvSpPr>
            <a:spLocks noGrp="1"/>
          </p:cNvSpPr>
          <p:nvPr>
            <p:ph idx="1"/>
          </p:nvPr>
        </p:nvSpPr>
        <p:spPr/>
        <p:txBody>
          <a:bodyPr>
            <a:normAutofit fontScale="92500" lnSpcReduction="10000"/>
          </a:bodyPr>
          <a:lstStyle/>
          <a:p>
            <a:r>
              <a:rPr lang="en-GB" b="1" dirty="0"/>
              <a:t>Design patterns </a:t>
            </a:r>
            <a:r>
              <a:rPr lang="en-GB" dirty="0"/>
              <a:t>are reusable solutions to common software design problems</a:t>
            </a:r>
          </a:p>
          <a:p>
            <a:r>
              <a:rPr lang="en-GB" dirty="0"/>
              <a:t>They provide proven blueprints for creating flexible, maintainable, and efficient code.</a:t>
            </a:r>
          </a:p>
          <a:p>
            <a:r>
              <a:rPr lang="en-GB" dirty="0"/>
              <a:t>Design patterns are often based on specific principles, but they offer concrete implementations and examples of how to apply those principles in practice.</a:t>
            </a:r>
          </a:p>
          <a:p>
            <a:r>
              <a:rPr lang="en-GB" dirty="0"/>
              <a:t>Example:</a:t>
            </a:r>
          </a:p>
          <a:p>
            <a:pPr lvl="1"/>
            <a:r>
              <a:rPr lang="en-GB" dirty="0"/>
              <a:t>Factory, </a:t>
            </a:r>
          </a:p>
          <a:p>
            <a:pPr lvl="1"/>
            <a:r>
              <a:rPr lang="en-GB" dirty="0"/>
              <a:t>Singleton, </a:t>
            </a:r>
          </a:p>
          <a:p>
            <a:pPr lvl="1"/>
            <a:r>
              <a:rPr lang="en-GB" dirty="0"/>
              <a:t>Observer, and Strategy.</a:t>
            </a:r>
            <a:endParaRPr lang="en-IN" dirty="0"/>
          </a:p>
        </p:txBody>
      </p:sp>
    </p:spTree>
    <p:extLst>
      <p:ext uri="{BB962C8B-B14F-4D97-AF65-F5344CB8AC3E}">
        <p14:creationId xmlns:p14="http://schemas.microsoft.com/office/powerpoint/2010/main" val="361743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 calcmode="lin" valueType="num">
                                      <p:cBhvr additive="base">
                                        <p:cTn id="4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 calcmode="lin" valueType="num">
                                      <p:cBhvr additive="base">
                                        <p:cTn id="4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478C-9F5A-D536-516D-A8A09CB4551C}"/>
              </a:ext>
            </a:extLst>
          </p:cNvPr>
          <p:cNvSpPr>
            <a:spLocks noGrp="1"/>
          </p:cNvSpPr>
          <p:nvPr>
            <p:ph type="title"/>
          </p:nvPr>
        </p:nvSpPr>
        <p:spPr/>
        <p:txBody>
          <a:bodyPr/>
          <a:lstStyle/>
          <a:p>
            <a:r>
              <a:rPr lang="en-GB" dirty="0"/>
              <a:t>To Summarize….</a:t>
            </a:r>
            <a:endParaRPr lang="en-IN" dirty="0"/>
          </a:p>
        </p:txBody>
      </p:sp>
      <p:sp>
        <p:nvSpPr>
          <p:cNvPr id="4" name="Rectangle 1">
            <a:extLst>
              <a:ext uri="{FF2B5EF4-FFF2-40B4-BE49-F238E27FC236}">
                <a16:creationId xmlns:a16="http://schemas.microsoft.com/office/drawing/2014/main" id="{4FED509A-F6BA-E1A0-31D0-B3A726BF58AB}"/>
              </a:ext>
            </a:extLst>
          </p:cNvPr>
          <p:cNvSpPr>
            <a:spLocks noGrp="1" noChangeArrowheads="1"/>
          </p:cNvSpPr>
          <p:nvPr>
            <p:ph idx="1"/>
          </p:nvPr>
        </p:nvSpPr>
        <p:spPr bwMode="auto">
          <a:xfrm>
            <a:off x="1534696" y="2524021"/>
            <a:ext cx="87382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Principles</a:t>
            </a:r>
            <a:r>
              <a:rPr kumimoji="0" lang="en-US" altLang="en-US" sz="1800" b="0" i="0" u="none" strike="noStrike" cap="none" normalizeH="0" baseline="0" dirty="0">
                <a:ln>
                  <a:noFill/>
                </a:ln>
                <a:solidFill>
                  <a:schemeClr val="tx1"/>
                </a:solidFill>
                <a:effectLst/>
                <a:latin typeface="Arial" panose="020B0604020202020204" pitchFamily="34" charset="0"/>
              </a:rPr>
              <a:t> are abstract guidelines that provide a framework for design decisions. </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Design patterns</a:t>
            </a:r>
            <a:r>
              <a:rPr kumimoji="0" lang="en-US" altLang="en-US" sz="1800" b="0" i="0" u="none" strike="noStrike" cap="none" normalizeH="0" baseline="0" dirty="0">
                <a:ln>
                  <a:noFill/>
                </a:ln>
                <a:solidFill>
                  <a:schemeClr val="tx1"/>
                </a:solidFill>
                <a:effectLst/>
                <a:latin typeface="Arial" panose="020B0604020202020204" pitchFamily="34" charset="0"/>
              </a:rPr>
              <a:t> are concrete solutions to common design problems. </a:t>
            </a:r>
          </a:p>
        </p:txBody>
      </p:sp>
    </p:spTree>
    <p:extLst>
      <p:ext uri="{BB962C8B-B14F-4D97-AF65-F5344CB8AC3E}">
        <p14:creationId xmlns:p14="http://schemas.microsoft.com/office/powerpoint/2010/main" val="268240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1000"/>
                                        <p:tgtEl>
                                          <p:spTgt spid="4">
                                            <p:txEl>
                                              <p:pRg st="1" end="1"/>
                                            </p:txEl>
                                          </p:spTgt>
                                        </p:tgtEl>
                                      </p:cBhvr>
                                    </p:animEffect>
                                    <p:anim calcmode="lin" valueType="num">
                                      <p:cBhvr>
                                        <p:cTn id="2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C38C-E2BE-1E77-6F5B-EE2053B22391}"/>
              </a:ext>
            </a:extLst>
          </p:cNvPr>
          <p:cNvSpPr>
            <a:spLocks noGrp="1"/>
          </p:cNvSpPr>
          <p:nvPr>
            <p:ph type="title"/>
          </p:nvPr>
        </p:nvSpPr>
        <p:spPr/>
        <p:txBody>
          <a:bodyPr/>
          <a:lstStyle/>
          <a:p>
            <a:r>
              <a:rPr lang="en-GB" dirty="0"/>
              <a:t>Why to learn?</a:t>
            </a:r>
            <a:endParaRPr lang="en-IN" dirty="0"/>
          </a:p>
        </p:txBody>
      </p:sp>
      <p:sp>
        <p:nvSpPr>
          <p:cNvPr id="3" name="Content Placeholder 2">
            <a:extLst>
              <a:ext uri="{FF2B5EF4-FFF2-40B4-BE49-F238E27FC236}">
                <a16:creationId xmlns:a16="http://schemas.microsoft.com/office/drawing/2014/main" id="{7C2CB7FC-B504-F916-ED7A-44250602BA47}"/>
              </a:ext>
            </a:extLst>
          </p:cNvPr>
          <p:cNvSpPr>
            <a:spLocks noGrp="1"/>
          </p:cNvSpPr>
          <p:nvPr>
            <p:ph idx="1"/>
          </p:nvPr>
        </p:nvSpPr>
        <p:spPr/>
        <p:txBody>
          <a:bodyPr/>
          <a:lstStyle/>
          <a:p>
            <a:r>
              <a:rPr lang="en-GB" dirty="0"/>
              <a:t>By understanding both principles and design patterns, developers can create better, more maintainable, and scalable software.</a:t>
            </a:r>
            <a:endParaRPr lang="en-IN" dirty="0"/>
          </a:p>
        </p:txBody>
      </p:sp>
    </p:spTree>
    <p:extLst>
      <p:ext uri="{BB962C8B-B14F-4D97-AF65-F5344CB8AC3E}">
        <p14:creationId xmlns:p14="http://schemas.microsoft.com/office/powerpoint/2010/main" val="250862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5AE5D9-C78F-3989-77A2-1679D84CA24B}"/>
              </a:ext>
            </a:extLst>
          </p:cNvPr>
          <p:cNvSpPr>
            <a:spLocks noGrp="1"/>
          </p:cNvSpPr>
          <p:nvPr>
            <p:ph type="title"/>
          </p:nvPr>
        </p:nvSpPr>
        <p:spPr>
          <a:xfrm rot="20903145">
            <a:off x="3641533" y="2145594"/>
            <a:ext cx="2433042" cy="1049235"/>
          </a:xfrm>
        </p:spPr>
        <p:txBody>
          <a:bodyPr/>
          <a:lstStyle/>
          <a:p>
            <a:r>
              <a:rPr lang="en-GB" dirty="0"/>
              <a:t>SOLID</a:t>
            </a:r>
            <a:endParaRPr lang="en-IN" dirty="0"/>
          </a:p>
        </p:txBody>
      </p:sp>
    </p:spTree>
    <p:extLst>
      <p:ext uri="{BB962C8B-B14F-4D97-AF65-F5344CB8AC3E}">
        <p14:creationId xmlns:p14="http://schemas.microsoft.com/office/powerpoint/2010/main" val="204578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23B6D-752F-BE9E-C9D0-B88DDB051E24}"/>
              </a:ext>
            </a:extLst>
          </p:cNvPr>
          <p:cNvSpPr>
            <a:spLocks noGrp="1"/>
          </p:cNvSpPr>
          <p:nvPr>
            <p:ph type="title"/>
          </p:nvPr>
        </p:nvSpPr>
        <p:spPr/>
        <p:txBody>
          <a:bodyPr/>
          <a:lstStyle/>
          <a:p>
            <a:r>
              <a:rPr lang="en-GB" dirty="0"/>
              <a:t>SOLID Principle</a:t>
            </a:r>
            <a:endParaRPr lang="en-IN" dirty="0"/>
          </a:p>
        </p:txBody>
      </p:sp>
      <p:sp>
        <p:nvSpPr>
          <p:cNvPr id="3" name="Content Placeholder 2">
            <a:extLst>
              <a:ext uri="{FF2B5EF4-FFF2-40B4-BE49-F238E27FC236}">
                <a16:creationId xmlns:a16="http://schemas.microsoft.com/office/drawing/2014/main" id="{C556DF94-328E-8EFF-778B-0D513C00FB97}"/>
              </a:ext>
            </a:extLst>
          </p:cNvPr>
          <p:cNvSpPr>
            <a:spLocks noGrp="1"/>
          </p:cNvSpPr>
          <p:nvPr>
            <p:ph idx="1"/>
          </p:nvPr>
        </p:nvSpPr>
        <p:spPr/>
        <p:txBody>
          <a:bodyPr/>
          <a:lstStyle/>
          <a:p>
            <a:r>
              <a:rPr lang="en-GB" dirty="0"/>
              <a:t>Acronym for </a:t>
            </a:r>
          </a:p>
          <a:p>
            <a:pPr lvl="1"/>
            <a:r>
              <a:rPr lang="en-GB" dirty="0"/>
              <a:t>S </a:t>
            </a:r>
            <a:r>
              <a:rPr lang="en-GB" dirty="0">
                <a:sym typeface="Wingdings" panose="05000000000000000000" pitchFamily="2" charset="2"/>
              </a:rPr>
              <a:t> Single Responsibility Principle </a:t>
            </a:r>
          </a:p>
          <a:p>
            <a:pPr lvl="1"/>
            <a:r>
              <a:rPr lang="en-GB" dirty="0">
                <a:sym typeface="Wingdings" panose="05000000000000000000" pitchFamily="2" charset="2"/>
              </a:rPr>
              <a:t>O  Open/Closed Principle</a:t>
            </a:r>
          </a:p>
          <a:p>
            <a:pPr lvl="1"/>
            <a:r>
              <a:rPr lang="en-GB" dirty="0">
                <a:sym typeface="Wingdings" panose="05000000000000000000" pitchFamily="2" charset="2"/>
              </a:rPr>
              <a:t>L  </a:t>
            </a:r>
            <a:r>
              <a:rPr lang="en-GB" dirty="0" err="1">
                <a:sym typeface="Wingdings" panose="05000000000000000000" pitchFamily="2" charset="2"/>
              </a:rPr>
              <a:t>Liscov</a:t>
            </a:r>
            <a:r>
              <a:rPr lang="en-GB" dirty="0">
                <a:sym typeface="Wingdings" panose="05000000000000000000" pitchFamily="2" charset="2"/>
              </a:rPr>
              <a:t> Substitution Principle </a:t>
            </a:r>
          </a:p>
          <a:p>
            <a:pPr lvl="1"/>
            <a:r>
              <a:rPr lang="en-GB" dirty="0">
                <a:sym typeface="Wingdings" panose="05000000000000000000" pitchFamily="2" charset="2"/>
              </a:rPr>
              <a:t>I  Interface Segregation Principle </a:t>
            </a:r>
          </a:p>
          <a:p>
            <a:pPr lvl="1"/>
            <a:r>
              <a:rPr lang="en-GB" dirty="0">
                <a:sym typeface="Wingdings" panose="05000000000000000000" pitchFamily="2" charset="2"/>
              </a:rPr>
              <a:t>D  Dependency Inversion Principle </a:t>
            </a:r>
            <a:endParaRPr lang="en-IN" dirty="0"/>
          </a:p>
        </p:txBody>
      </p:sp>
    </p:spTree>
    <p:extLst>
      <p:ext uri="{BB962C8B-B14F-4D97-AF65-F5344CB8AC3E}">
        <p14:creationId xmlns:p14="http://schemas.microsoft.com/office/powerpoint/2010/main" val="415974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1A6-26A3-6E92-087E-AEBE42CAD6F6}"/>
              </a:ext>
            </a:extLst>
          </p:cNvPr>
          <p:cNvSpPr>
            <a:spLocks noGrp="1"/>
          </p:cNvSpPr>
          <p:nvPr>
            <p:ph type="title"/>
          </p:nvPr>
        </p:nvSpPr>
        <p:spPr/>
        <p:txBody>
          <a:bodyPr/>
          <a:lstStyle/>
          <a:p>
            <a:r>
              <a:rPr lang="en-GB" dirty="0"/>
              <a:t>S</a:t>
            </a:r>
            <a:r>
              <a:rPr lang="en-GB" dirty="0">
                <a:sym typeface="Wingdings" panose="05000000000000000000" pitchFamily="2" charset="2"/>
              </a:rPr>
              <a:t> Single Responsibility Principle </a:t>
            </a:r>
            <a:endParaRPr lang="en-IN" dirty="0"/>
          </a:p>
        </p:txBody>
      </p:sp>
      <p:sp>
        <p:nvSpPr>
          <p:cNvPr id="4" name="Rectangle 1">
            <a:extLst>
              <a:ext uri="{FF2B5EF4-FFF2-40B4-BE49-F238E27FC236}">
                <a16:creationId xmlns:a16="http://schemas.microsoft.com/office/drawing/2014/main" id="{E4E9FD72-9747-DE28-A340-A359D13B0CD6}"/>
              </a:ext>
            </a:extLst>
          </p:cNvPr>
          <p:cNvSpPr>
            <a:spLocks noGrp="1" noChangeArrowheads="1"/>
          </p:cNvSpPr>
          <p:nvPr>
            <p:ph idx="1"/>
          </p:nvPr>
        </p:nvSpPr>
        <p:spPr bwMode="auto">
          <a:xfrm>
            <a:off x="1462777" y="2056748"/>
            <a:ext cx="536563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 class should have only one reason to change. </a:t>
            </a: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Focus on a single, well-defined responsibility. </a:t>
            </a:r>
          </a:p>
        </p:txBody>
      </p:sp>
      <p:pic>
        <p:nvPicPr>
          <p:cNvPr id="3075" name="Picture 3">
            <a:extLst>
              <a:ext uri="{FF2B5EF4-FFF2-40B4-BE49-F238E27FC236}">
                <a16:creationId xmlns:a16="http://schemas.microsoft.com/office/drawing/2014/main" id="{18C690C0-C5BD-EADF-BA30-C2E8930D6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1787" y="2056748"/>
            <a:ext cx="4436370" cy="3341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23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075"/>
                                        </p:tgtEl>
                                        <p:attrNameLst>
                                          <p:attrName>style.visibility</p:attrName>
                                        </p:attrNameLst>
                                      </p:cBhvr>
                                      <p:to>
                                        <p:strVal val="visible"/>
                                      </p:to>
                                    </p:set>
                                    <p:animEffect transition="in" filter="fade">
                                      <p:cBhvr>
                                        <p:cTn id="25" dur="1000"/>
                                        <p:tgtEl>
                                          <p:spTgt spid="3075"/>
                                        </p:tgtEl>
                                      </p:cBhvr>
                                    </p:animEffect>
                                    <p:anim calcmode="lin" valueType="num">
                                      <p:cBhvr>
                                        <p:cTn id="26" dur="1000" fill="hold"/>
                                        <p:tgtEl>
                                          <p:spTgt spid="3075"/>
                                        </p:tgtEl>
                                        <p:attrNameLst>
                                          <p:attrName>ppt_x</p:attrName>
                                        </p:attrNameLst>
                                      </p:cBhvr>
                                      <p:tavLst>
                                        <p:tav tm="0">
                                          <p:val>
                                            <p:strVal val="#ppt_x"/>
                                          </p:val>
                                        </p:tav>
                                        <p:tav tm="100000">
                                          <p:val>
                                            <p:strVal val="#ppt_x"/>
                                          </p:val>
                                        </p:tav>
                                      </p:tavLst>
                                    </p:anim>
                                    <p:anim calcmode="lin" valueType="num">
                                      <p:cBhvr>
                                        <p:cTn id="27" dur="1000" fill="hold"/>
                                        <p:tgtEl>
                                          <p:spTgt spid="30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47531-403D-67DE-D932-12E2E0CFDF6E}"/>
              </a:ext>
            </a:extLst>
          </p:cNvPr>
          <p:cNvSpPr>
            <a:spLocks noGrp="1"/>
          </p:cNvSpPr>
          <p:nvPr>
            <p:ph type="title"/>
          </p:nvPr>
        </p:nvSpPr>
        <p:spPr/>
        <p:txBody>
          <a:bodyPr/>
          <a:lstStyle/>
          <a:p>
            <a:r>
              <a:rPr lang="en-GB" dirty="0"/>
              <a:t>Scenario</a:t>
            </a:r>
            <a:endParaRPr lang="en-IN" dirty="0"/>
          </a:p>
        </p:txBody>
      </p:sp>
      <p:sp>
        <p:nvSpPr>
          <p:cNvPr id="3" name="Content Placeholder 2">
            <a:extLst>
              <a:ext uri="{FF2B5EF4-FFF2-40B4-BE49-F238E27FC236}">
                <a16:creationId xmlns:a16="http://schemas.microsoft.com/office/drawing/2014/main" id="{0BC48EB5-BC29-B0AB-B2FB-C60FE5406500}"/>
              </a:ext>
            </a:extLst>
          </p:cNvPr>
          <p:cNvSpPr>
            <a:spLocks noGrp="1"/>
          </p:cNvSpPr>
          <p:nvPr>
            <p:ph idx="1"/>
          </p:nvPr>
        </p:nvSpPr>
        <p:spPr/>
        <p:txBody>
          <a:bodyPr/>
          <a:lstStyle/>
          <a:p>
            <a:r>
              <a:rPr lang="en-GB" dirty="0"/>
              <a:t> Refer to the Program Block </a:t>
            </a:r>
          </a:p>
          <a:p>
            <a:r>
              <a:rPr lang="en-GB" dirty="0"/>
              <a:t>Try Understanding Bad Design First and then Good Design </a:t>
            </a:r>
            <a:endParaRPr lang="en-IN" dirty="0"/>
          </a:p>
        </p:txBody>
      </p:sp>
      <p:sp>
        <p:nvSpPr>
          <p:cNvPr id="4" name="Title 1">
            <a:extLst>
              <a:ext uri="{FF2B5EF4-FFF2-40B4-BE49-F238E27FC236}">
                <a16:creationId xmlns:a16="http://schemas.microsoft.com/office/drawing/2014/main" id="{E3FF8A8E-C2C0-2861-3BA2-9178D25AD249}"/>
              </a:ext>
            </a:extLst>
          </p:cNvPr>
          <p:cNvSpPr txBox="1">
            <a:spLocks/>
          </p:cNvSpPr>
          <p:nvPr/>
        </p:nvSpPr>
        <p:spPr>
          <a:xfrm>
            <a:off x="303932" y="1044026"/>
            <a:ext cx="1518441" cy="809728"/>
          </a:xfrm>
          <a:prstGeom prst="rect">
            <a:avLst/>
          </a:prstGeom>
        </p:spPr>
        <p:txBody>
          <a:bodyPr vert="wordArtVert" lIns="91440" tIns="45720" rIns="91440" bIns="45720" rtlCol="0" anchor="b">
            <a:normAutofit fontScale="92500" lnSpcReduction="20000"/>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GB" dirty="0"/>
              <a:t>S</a:t>
            </a:r>
          </a:p>
          <a:p>
            <a:r>
              <a:rPr lang="en-GB" dirty="0"/>
              <a:t>R</a:t>
            </a:r>
          </a:p>
          <a:p>
            <a:r>
              <a:rPr lang="en-GB" dirty="0"/>
              <a:t>P</a:t>
            </a:r>
          </a:p>
          <a:p>
            <a:endParaRPr lang="en-IN" dirty="0"/>
          </a:p>
        </p:txBody>
      </p:sp>
    </p:spTree>
    <p:extLst>
      <p:ext uri="{BB962C8B-B14F-4D97-AF65-F5344CB8AC3E}">
        <p14:creationId xmlns:p14="http://schemas.microsoft.com/office/powerpoint/2010/main" val="55123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1A6-26A3-6E92-087E-AEBE42CAD6F6}"/>
              </a:ext>
            </a:extLst>
          </p:cNvPr>
          <p:cNvSpPr>
            <a:spLocks noGrp="1"/>
          </p:cNvSpPr>
          <p:nvPr>
            <p:ph type="title"/>
          </p:nvPr>
        </p:nvSpPr>
        <p:spPr/>
        <p:txBody>
          <a:bodyPr/>
          <a:lstStyle/>
          <a:p>
            <a:r>
              <a:rPr lang="en-GB" dirty="0"/>
              <a:t>O </a:t>
            </a:r>
            <a:r>
              <a:rPr lang="en-GB" dirty="0">
                <a:sym typeface="Wingdings" panose="05000000000000000000" pitchFamily="2" charset="2"/>
              </a:rPr>
              <a:t> Open/Closed Principle </a:t>
            </a:r>
            <a:endParaRPr lang="en-IN" dirty="0"/>
          </a:p>
        </p:txBody>
      </p:sp>
      <p:sp>
        <p:nvSpPr>
          <p:cNvPr id="3" name="Rectangle 1">
            <a:extLst>
              <a:ext uri="{FF2B5EF4-FFF2-40B4-BE49-F238E27FC236}">
                <a16:creationId xmlns:a16="http://schemas.microsoft.com/office/drawing/2014/main" id="{4D8931E4-E8B8-0A79-10F7-9566E63B1D00}"/>
              </a:ext>
            </a:extLst>
          </p:cNvPr>
          <p:cNvSpPr>
            <a:spLocks noGrp="1" noChangeArrowheads="1"/>
          </p:cNvSpPr>
          <p:nvPr>
            <p:ph idx="1"/>
          </p:nvPr>
        </p:nvSpPr>
        <p:spPr bwMode="auto">
          <a:xfrm>
            <a:off x="1739490" y="2154407"/>
            <a:ext cx="342841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Classes should be open for extension but closed for modification. </a:t>
            </a: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Add new functionality without changing existing code. </a:t>
            </a:r>
          </a:p>
        </p:txBody>
      </p:sp>
      <p:pic>
        <p:nvPicPr>
          <p:cNvPr id="4099" name="Picture 3">
            <a:extLst>
              <a:ext uri="{FF2B5EF4-FFF2-40B4-BE49-F238E27FC236}">
                <a16:creationId xmlns:a16="http://schemas.microsoft.com/office/drawing/2014/main" id="{9689E3B2-BCCE-C4EA-4C48-B803FF3BC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2056" y="1995463"/>
            <a:ext cx="6809944" cy="3826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62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9"/>
                                        </p:tgtEl>
                                        <p:attrNameLst>
                                          <p:attrName>style.visibility</p:attrName>
                                        </p:attrNameLst>
                                      </p:cBhvr>
                                      <p:to>
                                        <p:strVal val="visible"/>
                                      </p:to>
                                    </p:set>
                                    <p:anim calcmode="lin" valueType="num">
                                      <p:cBhvr additive="base">
                                        <p:cTn id="25" dur="500" fill="hold"/>
                                        <p:tgtEl>
                                          <p:spTgt spid="4099"/>
                                        </p:tgtEl>
                                        <p:attrNameLst>
                                          <p:attrName>ppt_x</p:attrName>
                                        </p:attrNameLst>
                                      </p:cBhvr>
                                      <p:tavLst>
                                        <p:tav tm="0">
                                          <p:val>
                                            <p:strVal val="#ppt_x"/>
                                          </p:val>
                                        </p:tav>
                                        <p:tav tm="100000">
                                          <p:val>
                                            <p:strVal val="#ppt_x"/>
                                          </p:val>
                                        </p:tav>
                                      </p:tavLst>
                                    </p:anim>
                                    <p:anim calcmode="lin" valueType="num">
                                      <p:cBhvr additive="base">
                                        <p:cTn id="26"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47531-403D-67DE-D932-12E2E0CFDF6E}"/>
              </a:ext>
            </a:extLst>
          </p:cNvPr>
          <p:cNvSpPr>
            <a:spLocks noGrp="1"/>
          </p:cNvSpPr>
          <p:nvPr>
            <p:ph type="title"/>
          </p:nvPr>
        </p:nvSpPr>
        <p:spPr/>
        <p:txBody>
          <a:bodyPr/>
          <a:lstStyle/>
          <a:p>
            <a:r>
              <a:rPr lang="en-GB" dirty="0"/>
              <a:t>Scenario</a:t>
            </a:r>
            <a:endParaRPr lang="en-IN" dirty="0"/>
          </a:p>
        </p:txBody>
      </p:sp>
      <p:sp>
        <p:nvSpPr>
          <p:cNvPr id="3" name="Content Placeholder 2">
            <a:extLst>
              <a:ext uri="{FF2B5EF4-FFF2-40B4-BE49-F238E27FC236}">
                <a16:creationId xmlns:a16="http://schemas.microsoft.com/office/drawing/2014/main" id="{0BC48EB5-BC29-B0AB-B2FB-C60FE5406500}"/>
              </a:ext>
            </a:extLst>
          </p:cNvPr>
          <p:cNvSpPr>
            <a:spLocks noGrp="1"/>
          </p:cNvSpPr>
          <p:nvPr>
            <p:ph idx="1"/>
          </p:nvPr>
        </p:nvSpPr>
        <p:spPr/>
        <p:txBody>
          <a:bodyPr/>
          <a:lstStyle/>
          <a:p>
            <a:r>
              <a:rPr lang="en-GB" dirty="0"/>
              <a:t> Refer to the Program Block </a:t>
            </a:r>
          </a:p>
          <a:p>
            <a:r>
              <a:rPr lang="en-GB" dirty="0"/>
              <a:t>Try Understanding Bad Design First and then Good Design </a:t>
            </a:r>
            <a:endParaRPr lang="en-IN" dirty="0"/>
          </a:p>
        </p:txBody>
      </p:sp>
      <p:sp>
        <p:nvSpPr>
          <p:cNvPr id="4" name="Title 1">
            <a:extLst>
              <a:ext uri="{FF2B5EF4-FFF2-40B4-BE49-F238E27FC236}">
                <a16:creationId xmlns:a16="http://schemas.microsoft.com/office/drawing/2014/main" id="{E3FF8A8E-C2C0-2861-3BA2-9178D25AD249}"/>
              </a:ext>
            </a:extLst>
          </p:cNvPr>
          <p:cNvSpPr txBox="1">
            <a:spLocks/>
          </p:cNvSpPr>
          <p:nvPr/>
        </p:nvSpPr>
        <p:spPr>
          <a:xfrm>
            <a:off x="303932" y="1044026"/>
            <a:ext cx="1518441" cy="809728"/>
          </a:xfrm>
          <a:prstGeom prst="rect">
            <a:avLst/>
          </a:prstGeom>
        </p:spPr>
        <p:txBody>
          <a:bodyPr vert="wordArtVert" lIns="91440" tIns="45720" rIns="91440" bIns="45720" rtlCol="0" anchor="b">
            <a:normAutofit fontScale="92500" lnSpcReduction="20000"/>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GB" dirty="0"/>
              <a:t>OCP</a:t>
            </a:r>
          </a:p>
          <a:p>
            <a:endParaRPr lang="en-IN" dirty="0"/>
          </a:p>
        </p:txBody>
      </p:sp>
    </p:spTree>
    <p:extLst>
      <p:ext uri="{BB962C8B-B14F-4D97-AF65-F5344CB8AC3E}">
        <p14:creationId xmlns:p14="http://schemas.microsoft.com/office/powerpoint/2010/main" val="17639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1A6-26A3-6E92-087E-AEBE42CAD6F6}"/>
              </a:ext>
            </a:extLst>
          </p:cNvPr>
          <p:cNvSpPr>
            <a:spLocks noGrp="1"/>
          </p:cNvSpPr>
          <p:nvPr>
            <p:ph type="title"/>
          </p:nvPr>
        </p:nvSpPr>
        <p:spPr/>
        <p:txBody>
          <a:bodyPr/>
          <a:lstStyle/>
          <a:p>
            <a:r>
              <a:rPr lang="en-GB" dirty="0"/>
              <a:t>L </a:t>
            </a:r>
            <a:r>
              <a:rPr lang="en-GB" dirty="0">
                <a:sym typeface="Wingdings" panose="05000000000000000000" pitchFamily="2" charset="2"/>
              </a:rPr>
              <a:t> </a:t>
            </a:r>
            <a:r>
              <a:rPr lang="en-GB" dirty="0" err="1">
                <a:sym typeface="Wingdings" panose="05000000000000000000" pitchFamily="2" charset="2"/>
              </a:rPr>
              <a:t>Liscov</a:t>
            </a:r>
            <a:r>
              <a:rPr lang="en-GB" dirty="0">
                <a:sym typeface="Wingdings" panose="05000000000000000000" pitchFamily="2" charset="2"/>
              </a:rPr>
              <a:t> Substitution Principle </a:t>
            </a:r>
            <a:endParaRPr lang="en-IN" dirty="0"/>
          </a:p>
        </p:txBody>
      </p:sp>
      <p:sp>
        <p:nvSpPr>
          <p:cNvPr id="5" name="Content Placeholder 2">
            <a:extLst>
              <a:ext uri="{FF2B5EF4-FFF2-40B4-BE49-F238E27FC236}">
                <a16:creationId xmlns:a16="http://schemas.microsoft.com/office/drawing/2014/main" id="{0BC48EB5-BC29-B0AB-B2FB-C60FE5406500}"/>
              </a:ext>
            </a:extLst>
          </p:cNvPr>
          <p:cNvSpPr>
            <a:spLocks noGrp="1"/>
          </p:cNvSpPr>
          <p:nvPr>
            <p:ph idx="1"/>
          </p:nvPr>
        </p:nvSpPr>
        <p:spPr>
          <a:xfrm>
            <a:off x="1267986" y="2437366"/>
            <a:ext cx="4177318" cy="3079857"/>
          </a:xfrm>
        </p:spPr>
        <p:txBody>
          <a:bodyPr>
            <a:normAutofit/>
          </a:bodyPr>
          <a:lstStyle/>
          <a:p>
            <a:r>
              <a:rPr lang="en-US" altLang="en-US" dirty="0">
                <a:latin typeface="Arial" panose="020B0604020202020204" pitchFamily="34" charset="0"/>
              </a:rPr>
              <a:t>Objects of a derived class must be substitutable for objects of the base class without affecting the correctness of the program.</a:t>
            </a:r>
          </a:p>
          <a:p>
            <a:r>
              <a:rPr lang="en-US" altLang="en-US" dirty="0">
                <a:latin typeface="Arial" panose="020B0604020202020204" pitchFamily="34" charset="0"/>
              </a:rPr>
              <a:t>Ensure derived classes adhere to the contract defined by the base class</a:t>
            </a:r>
          </a:p>
          <a:p>
            <a:endParaRPr lang="en-IN" dirty="0"/>
          </a:p>
        </p:txBody>
      </p:sp>
      <p:pic>
        <p:nvPicPr>
          <p:cNvPr id="7170" name="Picture 2">
            <a:extLst>
              <a:ext uri="{FF2B5EF4-FFF2-40B4-BE49-F238E27FC236}">
                <a16:creationId xmlns:a16="http://schemas.microsoft.com/office/drawing/2014/main" id="{63B3764A-F3D9-6F16-3C5D-875ACF602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6440" y="1698027"/>
            <a:ext cx="4455560" cy="4355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79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47531-403D-67DE-D932-12E2E0CFDF6E}"/>
              </a:ext>
            </a:extLst>
          </p:cNvPr>
          <p:cNvSpPr>
            <a:spLocks noGrp="1"/>
          </p:cNvSpPr>
          <p:nvPr>
            <p:ph type="title"/>
          </p:nvPr>
        </p:nvSpPr>
        <p:spPr/>
        <p:txBody>
          <a:bodyPr/>
          <a:lstStyle/>
          <a:p>
            <a:r>
              <a:rPr lang="en-GB" dirty="0"/>
              <a:t>Scenario</a:t>
            </a:r>
            <a:endParaRPr lang="en-IN" dirty="0"/>
          </a:p>
        </p:txBody>
      </p:sp>
      <p:sp>
        <p:nvSpPr>
          <p:cNvPr id="4" name="Title 1">
            <a:extLst>
              <a:ext uri="{FF2B5EF4-FFF2-40B4-BE49-F238E27FC236}">
                <a16:creationId xmlns:a16="http://schemas.microsoft.com/office/drawing/2014/main" id="{E3FF8A8E-C2C0-2861-3BA2-9178D25AD249}"/>
              </a:ext>
            </a:extLst>
          </p:cNvPr>
          <p:cNvSpPr txBox="1">
            <a:spLocks/>
          </p:cNvSpPr>
          <p:nvPr/>
        </p:nvSpPr>
        <p:spPr>
          <a:xfrm>
            <a:off x="303932" y="1044026"/>
            <a:ext cx="1518441" cy="809728"/>
          </a:xfrm>
          <a:prstGeom prst="rect">
            <a:avLst/>
          </a:prstGeom>
        </p:spPr>
        <p:txBody>
          <a:bodyPr vert="wordArtVert" lIns="91440" tIns="45720" rIns="91440" bIns="45720" rtlCol="0" anchor="b">
            <a:normAutofit fontScale="92500" lnSpcReduction="20000"/>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GB" dirty="0"/>
              <a:t>LSP</a:t>
            </a:r>
          </a:p>
          <a:p>
            <a:endParaRPr lang="en-IN" dirty="0"/>
          </a:p>
        </p:txBody>
      </p:sp>
      <p:sp>
        <p:nvSpPr>
          <p:cNvPr id="8" name="Content Placeholder 7">
            <a:extLst>
              <a:ext uri="{FF2B5EF4-FFF2-40B4-BE49-F238E27FC236}">
                <a16:creationId xmlns:a16="http://schemas.microsoft.com/office/drawing/2014/main" id="{87451301-6AEC-2BEC-3C9F-D8B00F0FE006}"/>
              </a:ext>
            </a:extLst>
          </p:cNvPr>
          <p:cNvSpPr>
            <a:spLocks noGrp="1"/>
          </p:cNvSpPr>
          <p:nvPr>
            <p:ph idx="1"/>
          </p:nvPr>
        </p:nvSpPr>
        <p:spPr/>
        <p:txBody>
          <a:bodyPr/>
          <a:lstStyle/>
          <a:p>
            <a:r>
              <a:rPr lang="en-GB" dirty="0"/>
              <a:t> Refer to the Program Block </a:t>
            </a:r>
          </a:p>
          <a:p>
            <a:r>
              <a:rPr lang="en-GB" dirty="0"/>
              <a:t>Try Understanding Bad Design First and then Good Design </a:t>
            </a:r>
            <a:endParaRPr lang="en-IN" dirty="0"/>
          </a:p>
          <a:p>
            <a:endParaRPr lang="en-IN" dirty="0"/>
          </a:p>
        </p:txBody>
      </p:sp>
    </p:spTree>
    <p:extLst>
      <p:ext uri="{BB962C8B-B14F-4D97-AF65-F5344CB8AC3E}">
        <p14:creationId xmlns:p14="http://schemas.microsoft.com/office/powerpoint/2010/main" val="276278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1A6-26A3-6E92-087E-AEBE42CAD6F6}"/>
              </a:ext>
            </a:extLst>
          </p:cNvPr>
          <p:cNvSpPr>
            <a:spLocks noGrp="1"/>
          </p:cNvSpPr>
          <p:nvPr>
            <p:ph type="title"/>
          </p:nvPr>
        </p:nvSpPr>
        <p:spPr/>
        <p:txBody>
          <a:bodyPr/>
          <a:lstStyle/>
          <a:p>
            <a:r>
              <a:rPr lang="en-GB" dirty="0"/>
              <a:t>I </a:t>
            </a:r>
            <a:r>
              <a:rPr lang="en-GB" dirty="0">
                <a:sym typeface="Wingdings" panose="05000000000000000000" pitchFamily="2" charset="2"/>
              </a:rPr>
              <a:t> Interface Segregation Principle </a:t>
            </a:r>
            <a:endParaRPr lang="en-IN" dirty="0"/>
          </a:p>
        </p:txBody>
      </p:sp>
      <p:sp>
        <p:nvSpPr>
          <p:cNvPr id="5" name="Content Placeholder 2">
            <a:extLst>
              <a:ext uri="{FF2B5EF4-FFF2-40B4-BE49-F238E27FC236}">
                <a16:creationId xmlns:a16="http://schemas.microsoft.com/office/drawing/2014/main" id="{0BC48EB5-BC29-B0AB-B2FB-C60FE5406500}"/>
              </a:ext>
            </a:extLst>
          </p:cNvPr>
          <p:cNvSpPr>
            <a:spLocks noGrp="1"/>
          </p:cNvSpPr>
          <p:nvPr>
            <p:ph idx="1"/>
          </p:nvPr>
        </p:nvSpPr>
        <p:spPr>
          <a:xfrm>
            <a:off x="1534696" y="2314076"/>
            <a:ext cx="4732123" cy="3141502"/>
          </a:xfrm>
        </p:spPr>
        <p:txBody>
          <a:bodyPr>
            <a:normAutofit/>
          </a:bodyPr>
          <a:lstStyle/>
          <a:p>
            <a:pPr eaLnBrk="0" fontAlgn="base" hangingPunct="0">
              <a:lnSpc>
                <a:spcPct val="100000"/>
              </a:lnSpc>
              <a:spcBef>
                <a:spcPct val="0"/>
              </a:spcBef>
              <a:spcAft>
                <a:spcPct val="0"/>
              </a:spcAft>
              <a:buClrTx/>
              <a:buSzTx/>
            </a:pPr>
            <a:r>
              <a:rPr lang="en-US" altLang="en-US" dirty="0">
                <a:latin typeface="Arial" panose="020B0604020202020204" pitchFamily="34" charset="0"/>
              </a:rPr>
              <a:t>Clients should not be forced to depend on interfaces they do not use.   </a:t>
            </a:r>
          </a:p>
          <a:p>
            <a:r>
              <a:rPr lang="en-US" altLang="en-US" dirty="0">
                <a:latin typeface="Arial" panose="020B0604020202020204" pitchFamily="34" charset="0"/>
              </a:rPr>
              <a:t>Break down large interfaces into smaller, more specific ones</a:t>
            </a:r>
            <a:endParaRPr lang="en-IN" dirty="0"/>
          </a:p>
        </p:txBody>
      </p:sp>
      <p:pic>
        <p:nvPicPr>
          <p:cNvPr id="8195" name="Picture 3">
            <a:extLst>
              <a:ext uri="{FF2B5EF4-FFF2-40B4-BE49-F238E27FC236}">
                <a16:creationId xmlns:a16="http://schemas.microsoft.com/office/drawing/2014/main" id="{5853DBE0-E654-8C7B-851C-F0A7AB1E0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1982911"/>
            <a:ext cx="6096000" cy="4113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19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gtEl>
                                        <p:attrNameLst>
                                          <p:attrName>style.visibility</p:attrName>
                                        </p:attrNameLst>
                                      </p:cBhvr>
                                      <p:to>
                                        <p:strVal val="visible"/>
                                      </p:to>
                                    </p:set>
                                    <p:anim calcmode="lin" valueType="num">
                                      <p:cBhvr additive="base">
                                        <p:cTn id="25" dur="500" fill="hold"/>
                                        <p:tgtEl>
                                          <p:spTgt spid="8195"/>
                                        </p:tgtEl>
                                        <p:attrNameLst>
                                          <p:attrName>ppt_x</p:attrName>
                                        </p:attrNameLst>
                                      </p:cBhvr>
                                      <p:tavLst>
                                        <p:tav tm="0">
                                          <p:val>
                                            <p:strVal val="#ppt_x"/>
                                          </p:val>
                                        </p:tav>
                                        <p:tav tm="100000">
                                          <p:val>
                                            <p:strVal val="#ppt_x"/>
                                          </p:val>
                                        </p:tav>
                                      </p:tavLst>
                                    </p:anim>
                                    <p:anim calcmode="lin" valueType="num">
                                      <p:cBhvr additive="base">
                                        <p:cTn id="26"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47531-403D-67DE-D932-12E2E0CFDF6E}"/>
              </a:ext>
            </a:extLst>
          </p:cNvPr>
          <p:cNvSpPr>
            <a:spLocks noGrp="1"/>
          </p:cNvSpPr>
          <p:nvPr>
            <p:ph type="title"/>
          </p:nvPr>
        </p:nvSpPr>
        <p:spPr/>
        <p:txBody>
          <a:bodyPr/>
          <a:lstStyle/>
          <a:p>
            <a:r>
              <a:rPr lang="en-GB" dirty="0"/>
              <a:t>Scenario</a:t>
            </a:r>
            <a:endParaRPr lang="en-IN" dirty="0"/>
          </a:p>
        </p:txBody>
      </p:sp>
      <p:sp>
        <p:nvSpPr>
          <p:cNvPr id="4" name="Title 1">
            <a:extLst>
              <a:ext uri="{FF2B5EF4-FFF2-40B4-BE49-F238E27FC236}">
                <a16:creationId xmlns:a16="http://schemas.microsoft.com/office/drawing/2014/main" id="{E3FF8A8E-C2C0-2861-3BA2-9178D25AD249}"/>
              </a:ext>
            </a:extLst>
          </p:cNvPr>
          <p:cNvSpPr txBox="1">
            <a:spLocks/>
          </p:cNvSpPr>
          <p:nvPr/>
        </p:nvSpPr>
        <p:spPr>
          <a:xfrm>
            <a:off x="303932" y="1044026"/>
            <a:ext cx="1518441" cy="809728"/>
          </a:xfrm>
          <a:prstGeom prst="rect">
            <a:avLst/>
          </a:prstGeom>
        </p:spPr>
        <p:txBody>
          <a:bodyPr vert="wordArtVert" lIns="91440" tIns="45720" rIns="91440" bIns="45720" rtlCol="0" anchor="b">
            <a:normAutofit fontScale="92500" lnSpcReduction="20000"/>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GB" dirty="0"/>
              <a:t>I SP</a:t>
            </a:r>
          </a:p>
          <a:p>
            <a:endParaRPr lang="en-IN" dirty="0"/>
          </a:p>
        </p:txBody>
      </p:sp>
      <p:sp>
        <p:nvSpPr>
          <p:cNvPr id="8" name="Content Placeholder 7">
            <a:extLst>
              <a:ext uri="{FF2B5EF4-FFF2-40B4-BE49-F238E27FC236}">
                <a16:creationId xmlns:a16="http://schemas.microsoft.com/office/drawing/2014/main" id="{87451301-6AEC-2BEC-3C9F-D8B00F0FE006}"/>
              </a:ext>
            </a:extLst>
          </p:cNvPr>
          <p:cNvSpPr>
            <a:spLocks noGrp="1"/>
          </p:cNvSpPr>
          <p:nvPr>
            <p:ph idx="1"/>
          </p:nvPr>
        </p:nvSpPr>
        <p:spPr/>
        <p:txBody>
          <a:bodyPr/>
          <a:lstStyle/>
          <a:p>
            <a:r>
              <a:rPr lang="en-GB" dirty="0"/>
              <a:t> Refer to the Program Block </a:t>
            </a:r>
          </a:p>
          <a:p>
            <a:r>
              <a:rPr lang="en-GB" dirty="0"/>
              <a:t>Try Understanding Bad Design First and then Good Design </a:t>
            </a:r>
            <a:endParaRPr lang="en-IN" dirty="0"/>
          </a:p>
          <a:p>
            <a:endParaRPr lang="en-IN" dirty="0"/>
          </a:p>
        </p:txBody>
      </p:sp>
    </p:spTree>
    <p:extLst>
      <p:ext uri="{BB962C8B-B14F-4D97-AF65-F5344CB8AC3E}">
        <p14:creationId xmlns:p14="http://schemas.microsoft.com/office/powerpoint/2010/main" val="214407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1A6-26A3-6E92-087E-AEBE42CAD6F6}"/>
              </a:ext>
            </a:extLst>
          </p:cNvPr>
          <p:cNvSpPr>
            <a:spLocks noGrp="1"/>
          </p:cNvSpPr>
          <p:nvPr>
            <p:ph type="title"/>
          </p:nvPr>
        </p:nvSpPr>
        <p:spPr/>
        <p:txBody>
          <a:bodyPr/>
          <a:lstStyle/>
          <a:p>
            <a:r>
              <a:rPr lang="en-GB" dirty="0"/>
              <a:t>I </a:t>
            </a:r>
            <a:r>
              <a:rPr lang="en-GB" dirty="0">
                <a:sym typeface="Wingdings" panose="05000000000000000000" pitchFamily="2" charset="2"/>
              </a:rPr>
              <a:t> Dependency Inversion Principle </a:t>
            </a:r>
            <a:endParaRPr lang="en-IN" dirty="0"/>
          </a:p>
        </p:txBody>
      </p:sp>
      <p:sp>
        <p:nvSpPr>
          <p:cNvPr id="5" name="Content Placeholder 2">
            <a:extLst>
              <a:ext uri="{FF2B5EF4-FFF2-40B4-BE49-F238E27FC236}">
                <a16:creationId xmlns:a16="http://schemas.microsoft.com/office/drawing/2014/main" id="{0BC48EB5-BC29-B0AB-B2FB-C60FE5406500}"/>
              </a:ext>
            </a:extLst>
          </p:cNvPr>
          <p:cNvSpPr>
            <a:spLocks noGrp="1"/>
          </p:cNvSpPr>
          <p:nvPr>
            <p:ph idx="1"/>
          </p:nvPr>
        </p:nvSpPr>
        <p:spPr>
          <a:xfrm>
            <a:off x="1534696" y="2314076"/>
            <a:ext cx="4732123" cy="3141502"/>
          </a:xfrm>
        </p:spPr>
        <p:txBody>
          <a:bodyPr>
            <a:normAutofit/>
          </a:bodyPr>
          <a:lstStyle/>
          <a:p>
            <a:pPr eaLnBrk="0" fontAlgn="base" hangingPunct="0">
              <a:lnSpc>
                <a:spcPct val="100000"/>
              </a:lnSpc>
              <a:spcBef>
                <a:spcPct val="0"/>
              </a:spcBef>
              <a:spcAft>
                <a:spcPct val="0"/>
              </a:spcAft>
              <a:buClrTx/>
              <a:buSzTx/>
            </a:pPr>
            <a:r>
              <a:rPr lang="en-US" altLang="en-US" dirty="0">
                <a:latin typeface="Arial" panose="020B0604020202020204" pitchFamily="34" charset="0"/>
              </a:rPr>
              <a:t>Depend on abstractions, not concretions </a:t>
            </a:r>
          </a:p>
          <a:p>
            <a:pPr eaLnBrk="0" fontAlgn="base" hangingPunct="0">
              <a:lnSpc>
                <a:spcPct val="100000"/>
              </a:lnSpc>
              <a:spcBef>
                <a:spcPct val="0"/>
              </a:spcBef>
              <a:spcAft>
                <a:spcPct val="0"/>
              </a:spcAft>
              <a:buClrTx/>
              <a:buSzTx/>
            </a:pPr>
            <a:r>
              <a:rPr lang="en-US" altLang="en-US" dirty="0">
                <a:latin typeface="Arial" panose="020B0604020202020204" pitchFamily="34" charset="0"/>
              </a:rPr>
              <a:t>High-level modules should not depend on low-level modules. Both should depend on abstractions </a:t>
            </a:r>
          </a:p>
        </p:txBody>
      </p:sp>
      <p:sp>
        <p:nvSpPr>
          <p:cNvPr id="3" name="Rectangle 1">
            <a:extLst>
              <a:ext uri="{FF2B5EF4-FFF2-40B4-BE49-F238E27FC236}">
                <a16:creationId xmlns:a16="http://schemas.microsoft.com/office/drawing/2014/main" id="{4B4799B5-51F9-6649-44EF-6F9E64CB31C0}"/>
              </a:ext>
            </a:extLst>
          </p:cNvPr>
          <p:cNvSpPr>
            <a:spLocks noChangeArrowheads="1"/>
          </p:cNvSpPr>
          <p:nvPr/>
        </p:nvSpPr>
        <p:spPr bwMode="auto">
          <a:xfrm>
            <a:off x="1613043" y="4649527"/>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9219" name="Picture 3">
            <a:extLst>
              <a:ext uri="{FF2B5EF4-FFF2-40B4-BE49-F238E27FC236}">
                <a16:creationId xmlns:a16="http://schemas.microsoft.com/office/drawing/2014/main" id="{BC4EEA3A-750A-6F84-F997-B83B99939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2428" y="1853754"/>
            <a:ext cx="4449572" cy="4199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24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47531-403D-67DE-D932-12E2E0CFDF6E}"/>
              </a:ext>
            </a:extLst>
          </p:cNvPr>
          <p:cNvSpPr>
            <a:spLocks noGrp="1"/>
          </p:cNvSpPr>
          <p:nvPr>
            <p:ph type="title"/>
          </p:nvPr>
        </p:nvSpPr>
        <p:spPr/>
        <p:txBody>
          <a:bodyPr/>
          <a:lstStyle/>
          <a:p>
            <a:r>
              <a:rPr lang="en-GB" dirty="0"/>
              <a:t>Scenario</a:t>
            </a:r>
            <a:endParaRPr lang="en-IN" dirty="0"/>
          </a:p>
        </p:txBody>
      </p:sp>
      <p:sp>
        <p:nvSpPr>
          <p:cNvPr id="4" name="Title 1">
            <a:extLst>
              <a:ext uri="{FF2B5EF4-FFF2-40B4-BE49-F238E27FC236}">
                <a16:creationId xmlns:a16="http://schemas.microsoft.com/office/drawing/2014/main" id="{E3FF8A8E-C2C0-2861-3BA2-9178D25AD249}"/>
              </a:ext>
            </a:extLst>
          </p:cNvPr>
          <p:cNvSpPr txBox="1">
            <a:spLocks/>
          </p:cNvSpPr>
          <p:nvPr/>
        </p:nvSpPr>
        <p:spPr>
          <a:xfrm>
            <a:off x="303932" y="1044026"/>
            <a:ext cx="1518441" cy="809728"/>
          </a:xfrm>
          <a:prstGeom prst="rect">
            <a:avLst/>
          </a:prstGeom>
        </p:spPr>
        <p:txBody>
          <a:bodyPr vert="wordArtVert" lIns="91440" tIns="45720" rIns="91440" bIns="45720" rtlCol="0" anchor="b">
            <a:normAutofit fontScale="92500" lnSpcReduction="20000"/>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GB" dirty="0"/>
              <a:t>DIP</a:t>
            </a:r>
          </a:p>
          <a:p>
            <a:endParaRPr lang="en-IN" dirty="0"/>
          </a:p>
        </p:txBody>
      </p:sp>
      <p:sp>
        <p:nvSpPr>
          <p:cNvPr id="8" name="Content Placeholder 7">
            <a:extLst>
              <a:ext uri="{FF2B5EF4-FFF2-40B4-BE49-F238E27FC236}">
                <a16:creationId xmlns:a16="http://schemas.microsoft.com/office/drawing/2014/main" id="{87451301-6AEC-2BEC-3C9F-D8B00F0FE006}"/>
              </a:ext>
            </a:extLst>
          </p:cNvPr>
          <p:cNvSpPr>
            <a:spLocks noGrp="1"/>
          </p:cNvSpPr>
          <p:nvPr>
            <p:ph idx="1"/>
          </p:nvPr>
        </p:nvSpPr>
        <p:spPr/>
        <p:txBody>
          <a:bodyPr/>
          <a:lstStyle/>
          <a:p>
            <a:r>
              <a:rPr lang="en-GB" dirty="0"/>
              <a:t> Refer to the Program Block </a:t>
            </a:r>
          </a:p>
          <a:p>
            <a:r>
              <a:rPr lang="en-GB" dirty="0"/>
              <a:t>Try Understanding Bad Design First and then Good Design </a:t>
            </a:r>
            <a:endParaRPr lang="en-IN" dirty="0"/>
          </a:p>
          <a:p>
            <a:endParaRPr lang="en-IN" dirty="0"/>
          </a:p>
        </p:txBody>
      </p:sp>
    </p:spTree>
    <p:extLst>
      <p:ext uri="{BB962C8B-B14F-4D97-AF65-F5344CB8AC3E}">
        <p14:creationId xmlns:p14="http://schemas.microsoft.com/office/powerpoint/2010/main" val="47254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6E8D-A4BB-CF39-AA4B-3FD2F5AAB980}"/>
              </a:ext>
            </a:extLst>
          </p:cNvPr>
          <p:cNvSpPr>
            <a:spLocks noGrp="1"/>
          </p:cNvSpPr>
          <p:nvPr>
            <p:ph type="title"/>
          </p:nvPr>
        </p:nvSpPr>
        <p:spPr>
          <a:xfrm rot="21310536">
            <a:off x="4720527" y="3168261"/>
            <a:ext cx="3244960" cy="1049235"/>
          </a:xfrm>
        </p:spPr>
        <p:txBody>
          <a:bodyPr/>
          <a:lstStyle/>
          <a:p>
            <a:r>
              <a:rPr lang="en-GB" dirty="0"/>
              <a:t>Thanks </a:t>
            </a:r>
            <a:endParaRPr lang="en-IN" dirty="0"/>
          </a:p>
        </p:txBody>
      </p:sp>
    </p:spTree>
    <p:extLst>
      <p:ext uri="{BB962C8B-B14F-4D97-AF65-F5344CB8AC3E}">
        <p14:creationId xmlns:p14="http://schemas.microsoft.com/office/powerpoint/2010/main" val="860727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F793-5D02-8F7F-3D45-612184F0B2FA}"/>
              </a:ext>
            </a:extLst>
          </p:cNvPr>
          <p:cNvSpPr>
            <a:spLocks noGrp="1"/>
          </p:cNvSpPr>
          <p:nvPr>
            <p:ph type="title"/>
          </p:nvPr>
        </p:nvSpPr>
        <p:spPr/>
        <p:txBody>
          <a:bodyPr/>
          <a:lstStyle/>
          <a:p>
            <a:r>
              <a:rPr lang="en-GB" dirty="0"/>
              <a:t>Design Pattern</a:t>
            </a:r>
            <a:endParaRPr lang="en-IN" dirty="0"/>
          </a:p>
        </p:txBody>
      </p:sp>
      <p:sp>
        <p:nvSpPr>
          <p:cNvPr id="3" name="Content Placeholder 2">
            <a:extLst>
              <a:ext uri="{FF2B5EF4-FFF2-40B4-BE49-F238E27FC236}">
                <a16:creationId xmlns:a16="http://schemas.microsoft.com/office/drawing/2014/main" id="{970ACB22-4ABD-0E02-FB50-E98453CFF0E5}"/>
              </a:ext>
            </a:extLst>
          </p:cNvPr>
          <p:cNvSpPr>
            <a:spLocks noGrp="1"/>
          </p:cNvSpPr>
          <p:nvPr>
            <p:ph idx="1"/>
          </p:nvPr>
        </p:nvSpPr>
        <p:spPr/>
        <p:txBody>
          <a:bodyPr/>
          <a:lstStyle/>
          <a:p>
            <a:r>
              <a:rPr lang="en-GB" dirty="0"/>
              <a:t>Design patterns are reusable solutions to common software design problems. </a:t>
            </a:r>
            <a:br>
              <a:rPr lang="en-GB" dirty="0"/>
            </a:br>
            <a:endParaRPr lang="en-GB" dirty="0"/>
          </a:p>
          <a:p>
            <a:r>
              <a:rPr lang="en-GB" dirty="0"/>
              <a:t>They provide proven blueprints for creating flexible, maintainable, and efficient code. </a:t>
            </a:r>
            <a:br>
              <a:rPr lang="en-GB" dirty="0"/>
            </a:br>
            <a:endParaRPr lang="en-GB" dirty="0"/>
          </a:p>
          <a:p>
            <a:r>
              <a:rPr lang="en-GB" dirty="0"/>
              <a:t>These patterns are not tied to a specific programming language but are applicable across different programming paradigms.</a:t>
            </a:r>
            <a:endParaRPr lang="en-IN" dirty="0"/>
          </a:p>
        </p:txBody>
      </p:sp>
    </p:spTree>
    <p:extLst>
      <p:ext uri="{BB962C8B-B14F-4D97-AF65-F5344CB8AC3E}">
        <p14:creationId xmlns:p14="http://schemas.microsoft.com/office/powerpoint/2010/main" val="141160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6CDC-49FA-03B7-226F-3F83F1240310}"/>
              </a:ext>
            </a:extLst>
          </p:cNvPr>
          <p:cNvSpPr>
            <a:spLocks noGrp="1"/>
          </p:cNvSpPr>
          <p:nvPr>
            <p:ph type="title"/>
          </p:nvPr>
        </p:nvSpPr>
        <p:spPr/>
        <p:txBody>
          <a:bodyPr/>
          <a:lstStyle/>
          <a:p>
            <a:r>
              <a:rPr lang="en-IN" dirty="0"/>
              <a:t>Why Use Design Patterns?</a:t>
            </a:r>
          </a:p>
        </p:txBody>
      </p:sp>
      <p:sp>
        <p:nvSpPr>
          <p:cNvPr id="4" name="Rectangle 1">
            <a:extLst>
              <a:ext uri="{FF2B5EF4-FFF2-40B4-BE49-F238E27FC236}">
                <a16:creationId xmlns:a16="http://schemas.microsoft.com/office/drawing/2014/main" id="{E3071A69-8A65-4439-2A63-405D0F33777E}"/>
              </a:ext>
            </a:extLst>
          </p:cNvPr>
          <p:cNvSpPr>
            <a:spLocks noGrp="1" noChangeArrowheads="1"/>
          </p:cNvSpPr>
          <p:nvPr>
            <p:ph idx="1"/>
          </p:nvPr>
        </p:nvSpPr>
        <p:spPr bwMode="auto">
          <a:xfrm>
            <a:off x="1534696" y="2309878"/>
            <a:ext cx="105545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Improved Code Quality:</a:t>
            </a:r>
            <a:r>
              <a:rPr kumimoji="0" lang="en-US" altLang="en-US" sz="1800" b="0" i="0" u="none" strike="noStrike" cap="none" normalizeH="0" baseline="0" dirty="0">
                <a:ln>
                  <a:noFill/>
                </a:ln>
                <a:solidFill>
                  <a:schemeClr val="tx1"/>
                </a:solidFill>
                <a:effectLst/>
                <a:latin typeface="Arial" panose="020B0604020202020204" pitchFamily="34" charset="0"/>
              </a:rPr>
              <a:t> Design patterns promote code that is more readable, maintainable, and extensible. They help prevent common anti-patterns and ensure code adheres to best practices.</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Enhanced Collaboration:</a:t>
            </a:r>
            <a:r>
              <a:rPr kumimoji="0" lang="en-US" altLang="en-US" sz="1800" b="0" i="0" u="none" strike="noStrike" cap="none" normalizeH="0" baseline="0" dirty="0">
                <a:ln>
                  <a:noFill/>
                </a:ln>
                <a:solidFill>
                  <a:schemeClr val="tx1"/>
                </a:solidFill>
                <a:effectLst/>
                <a:latin typeface="Arial" panose="020B0604020202020204" pitchFamily="34" charset="0"/>
              </a:rPr>
              <a:t> Patterns provide a common vocabulary and understanding among developers, facilitating collaboration and knowledge sharing.</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Faster Development:</a:t>
            </a:r>
            <a:r>
              <a:rPr kumimoji="0" lang="en-US" altLang="en-US" sz="1800" b="0" i="0" u="none" strike="noStrike" cap="none" normalizeH="0" baseline="0" dirty="0">
                <a:ln>
                  <a:noFill/>
                </a:ln>
                <a:solidFill>
                  <a:schemeClr val="tx1"/>
                </a:solidFill>
                <a:effectLst/>
                <a:latin typeface="Arial" panose="020B0604020202020204" pitchFamily="34" charset="0"/>
              </a:rPr>
              <a:t> By leveraging established solutions, developers can avoid reinventing the wheel and focus on implementing core business logic.</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Reduced Bugs:</a:t>
            </a:r>
            <a:r>
              <a:rPr kumimoji="0" lang="en-US" altLang="en-US" sz="1800" b="0" i="0" u="none" strike="noStrike" cap="none" normalizeH="0" baseline="0" dirty="0">
                <a:ln>
                  <a:noFill/>
                </a:ln>
                <a:solidFill>
                  <a:schemeClr val="tx1"/>
                </a:solidFill>
                <a:effectLst/>
                <a:latin typeface="Arial" panose="020B0604020202020204" pitchFamily="34" charset="0"/>
              </a:rPr>
              <a:t> Patterns often address common pitfalls and design flaws, leading to fewer bugs and improved software reliability.</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Adaptability:</a:t>
            </a:r>
            <a:r>
              <a:rPr kumimoji="0" lang="en-US" altLang="en-US" sz="1800" b="0" i="0" u="none" strike="noStrike" cap="none" normalizeH="0" baseline="0" dirty="0">
                <a:ln>
                  <a:noFill/>
                </a:ln>
                <a:solidFill>
                  <a:schemeClr val="tx1"/>
                </a:solidFill>
                <a:effectLst/>
                <a:latin typeface="Arial" panose="020B0604020202020204" pitchFamily="34" charset="0"/>
              </a:rPr>
              <a:t> Design patterns make code more adaptable to change, allowing for easier modifications and extensions in the future </a:t>
            </a:r>
          </a:p>
        </p:txBody>
      </p:sp>
    </p:spTree>
    <p:extLst>
      <p:ext uri="{BB962C8B-B14F-4D97-AF65-F5344CB8AC3E}">
        <p14:creationId xmlns:p14="http://schemas.microsoft.com/office/powerpoint/2010/main" val="248285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6CDC-49FA-03B7-226F-3F83F1240310}"/>
              </a:ext>
            </a:extLst>
          </p:cNvPr>
          <p:cNvSpPr>
            <a:spLocks noGrp="1"/>
          </p:cNvSpPr>
          <p:nvPr>
            <p:ph type="title"/>
          </p:nvPr>
        </p:nvSpPr>
        <p:spPr/>
        <p:txBody>
          <a:bodyPr/>
          <a:lstStyle/>
          <a:p>
            <a:r>
              <a:rPr lang="en-GB" dirty="0"/>
              <a:t>Benefits of Using Design Patterns</a:t>
            </a:r>
            <a:endParaRPr lang="en-IN" dirty="0"/>
          </a:p>
        </p:txBody>
      </p:sp>
      <p:sp>
        <p:nvSpPr>
          <p:cNvPr id="4" name="Rectangle 1">
            <a:extLst>
              <a:ext uri="{FF2B5EF4-FFF2-40B4-BE49-F238E27FC236}">
                <a16:creationId xmlns:a16="http://schemas.microsoft.com/office/drawing/2014/main" id="{E3071A69-8A65-4439-2A63-405D0F33777E}"/>
              </a:ext>
            </a:extLst>
          </p:cNvPr>
          <p:cNvSpPr>
            <a:spLocks noGrp="1" noChangeArrowheads="1"/>
          </p:cNvSpPr>
          <p:nvPr>
            <p:ph idx="1"/>
          </p:nvPr>
        </p:nvSpPr>
        <p:spPr bwMode="auto">
          <a:xfrm>
            <a:off x="1534696" y="2863874"/>
            <a:ext cx="1055452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lang="en-US" altLang="en-US" sz="1800" b="1" dirty="0">
                <a:latin typeface="Arial" panose="020B0604020202020204" pitchFamily="34" charset="0"/>
              </a:rPr>
              <a:t>Reusability:</a:t>
            </a:r>
            <a:r>
              <a:rPr lang="en-US" altLang="en-US" sz="1800" dirty="0">
                <a:latin typeface="Arial" panose="020B0604020202020204" pitchFamily="34" charset="0"/>
              </a:rPr>
              <a:t> Patterns can be reused across different projects, saving time and effort</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buClrTx/>
              <a:buSzTx/>
            </a:pPr>
            <a:r>
              <a:rPr lang="en-US" altLang="en-US" sz="1800" b="1" dirty="0">
                <a:latin typeface="Arial" panose="020B0604020202020204" pitchFamily="34" charset="0"/>
              </a:rPr>
              <a:t>Readability:</a:t>
            </a:r>
            <a:r>
              <a:rPr lang="en-US" altLang="en-US" sz="1800" dirty="0">
                <a:latin typeface="Arial" panose="020B0604020202020204" pitchFamily="34" charset="0"/>
              </a:rPr>
              <a:t> Well-applied patterns make code easier to understand and maintain</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buClrTx/>
              <a:buSzTx/>
            </a:pPr>
            <a:r>
              <a:rPr lang="en-US" altLang="en-US" sz="1800" b="1" dirty="0">
                <a:latin typeface="Arial" panose="020B0604020202020204" pitchFamily="34" charset="0"/>
              </a:rPr>
              <a:t>Extensibility:</a:t>
            </a:r>
            <a:r>
              <a:rPr lang="en-US" altLang="en-US" sz="1800" dirty="0">
                <a:latin typeface="Arial" panose="020B0604020202020204" pitchFamily="34" charset="0"/>
              </a:rPr>
              <a:t> Patterns can be adapted to accommodate new requirements without significant changes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buClrTx/>
              <a:buSzTx/>
            </a:pPr>
            <a:r>
              <a:rPr lang="en-US" altLang="en-US" sz="1800" b="1" dirty="0">
                <a:latin typeface="Arial" panose="020B0604020202020204" pitchFamily="34" charset="0"/>
              </a:rPr>
              <a:t>Flexibility:</a:t>
            </a:r>
            <a:r>
              <a:rPr lang="en-US" altLang="en-US" sz="1800" dirty="0">
                <a:latin typeface="Arial" panose="020B0604020202020204" pitchFamily="34" charset="0"/>
              </a:rPr>
              <a:t> Patterns provide a framework for building flexible and adaptable systems </a:t>
            </a:r>
          </a:p>
          <a:p>
            <a:pPr eaLnBrk="0" fontAlgn="base" hangingPunct="0">
              <a:lnSpc>
                <a:spcPct val="100000"/>
              </a:lnSpc>
              <a:spcBef>
                <a:spcPct val="0"/>
              </a:spcBef>
              <a:spcAft>
                <a:spcPct val="0"/>
              </a:spcAft>
              <a:buClrTx/>
              <a:buSzTx/>
            </a:pPr>
            <a:r>
              <a:rPr lang="en-US" altLang="en-US" sz="1800" b="1" dirty="0">
                <a:latin typeface="Arial" panose="020B0604020202020204" pitchFamily="34" charset="0"/>
              </a:rPr>
              <a:t>Maintainability:</a:t>
            </a:r>
            <a:r>
              <a:rPr lang="en-US" altLang="en-US" sz="1800" dirty="0">
                <a:latin typeface="Arial" panose="020B0604020202020204" pitchFamily="34" charset="0"/>
              </a:rPr>
              <a:t> Code that follows design patterns is generally easier to maintain and modify</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76858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additive="base">
                                        <p:cTn id="3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 calcmode="lin" valueType="num">
                                      <p:cBhvr additive="base">
                                        <p:cTn id="3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6CDC-49FA-03B7-226F-3F83F1240310}"/>
              </a:ext>
            </a:extLst>
          </p:cNvPr>
          <p:cNvSpPr>
            <a:spLocks noGrp="1"/>
          </p:cNvSpPr>
          <p:nvPr>
            <p:ph type="title"/>
          </p:nvPr>
        </p:nvSpPr>
        <p:spPr/>
        <p:txBody>
          <a:bodyPr/>
          <a:lstStyle/>
          <a:p>
            <a:r>
              <a:rPr lang="en-GB" dirty="0"/>
              <a:t>Categories of Design Patterns</a:t>
            </a:r>
            <a:endParaRPr lang="en-IN" dirty="0"/>
          </a:p>
        </p:txBody>
      </p:sp>
      <p:graphicFrame>
        <p:nvGraphicFramePr>
          <p:cNvPr id="5" name="Content Placeholder 4">
            <a:extLst>
              <a:ext uri="{FF2B5EF4-FFF2-40B4-BE49-F238E27FC236}">
                <a16:creationId xmlns:a16="http://schemas.microsoft.com/office/drawing/2014/main" id="{7AB4ED27-8B27-F464-506B-DC0F58AA2907}"/>
              </a:ext>
            </a:extLst>
          </p:cNvPr>
          <p:cNvGraphicFramePr>
            <a:graphicFrameLocks noGrp="1"/>
          </p:cNvGraphicFramePr>
          <p:nvPr>
            <p:ph idx="1"/>
            <p:extLst>
              <p:ext uri="{D42A27DB-BD31-4B8C-83A1-F6EECF244321}">
                <p14:modId xmlns:p14="http://schemas.microsoft.com/office/powerpoint/2010/main" val="580121532"/>
              </p:ext>
            </p:extLst>
          </p:nvPr>
        </p:nvGraphicFramePr>
        <p:xfrm>
          <a:off x="1534696" y="2046947"/>
          <a:ext cx="9520237"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253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D3DD-DC9A-F5ED-54A9-2D928857D472}"/>
              </a:ext>
            </a:extLst>
          </p:cNvPr>
          <p:cNvSpPr>
            <a:spLocks noGrp="1"/>
          </p:cNvSpPr>
          <p:nvPr>
            <p:ph type="title"/>
          </p:nvPr>
        </p:nvSpPr>
        <p:spPr/>
        <p:txBody>
          <a:bodyPr/>
          <a:lstStyle/>
          <a:p>
            <a:r>
              <a:rPr lang="en-GB" dirty="0"/>
              <a:t>Creational Patterns</a:t>
            </a:r>
            <a:endParaRPr lang="en-IN" dirty="0"/>
          </a:p>
        </p:txBody>
      </p:sp>
      <p:sp>
        <p:nvSpPr>
          <p:cNvPr id="3" name="Content Placeholder 2">
            <a:extLst>
              <a:ext uri="{FF2B5EF4-FFF2-40B4-BE49-F238E27FC236}">
                <a16:creationId xmlns:a16="http://schemas.microsoft.com/office/drawing/2014/main" id="{A0B87102-FE8F-9081-1192-8CD7AB017FB7}"/>
              </a:ext>
            </a:extLst>
          </p:cNvPr>
          <p:cNvSpPr>
            <a:spLocks noGrp="1"/>
          </p:cNvSpPr>
          <p:nvPr>
            <p:ph idx="1"/>
          </p:nvPr>
        </p:nvSpPr>
        <p:spPr>
          <a:xfrm>
            <a:off x="1527671" y="1962569"/>
            <a:ext cx="9520158" cy="3450613"/>
          </a:xfrm>
        </p:spPr>
        <p:txBody>
          <a:bodyPr>
            <a:normAutofit fontScale="70000" lnSpcReduction="20000"/>
          </a:bodyPr>
          <a:lstStyle/>
          <a:p>
            <a:r>
              <a:rPr lang="en-GB" dirty="0"/>
              <a:t>These patterns deal with object creation. They provide ways to create objects in a flexible and controlled manner</a:t>
            </a:r>
          </a:p>
          <a:p>
            <a:r>
              <a:rPr lang="en-GB" dirty="0"/>
              <a:t>These patterns provide various object creation mechanisms, which increase flexibility and reuse of existing code.</a:t>
            </a:r>
          </a:p>
          <a:p>
            <a:r>
              <a:rPr lang="en-GB" dirty="0"/>
              <a:t>Examples</a:t>
            </a:r>
          </a:p>
          <a:p>
            <a:pPr lvl="1"/>
            <a:r>
              <a:rPr lang="en-US" altLang="en-US" b="1" dirty="0">
                <a:latin typeface="Arial" panose="020B0604020202020204" pitchFamily="34" charset="0"/>
              </a:rPr>
              <a:t>Factory Method:</a:t>
            </a:r>
            <a:r>
              <a:rPr lang="en-US" altLang="en-US" dirty="0">
                <a:latin typeface="Arial" panose="020B0604020202020204" pitchFamily="34" charset="0"/>
              </a:rPr>
              <a:t> Defines an interface for creating an object, but let subclasses decide which class to instantiate</a:t>
            </a:r>
          </a:p>
          <a:p>
            <a:pPr lvl="1"/>
            <a:r>
              <a:rPr lang="en-US" altLang="en-US" b="1" dirty="0">
                <a:latin typeface="Arial" panose="020B0604020202020204" pitchFamily="34" charset="0"/>
              </a:rPr>
              <a:t>Abstract Factory:</a:t>
            </a:r>
            <a:r>
              <a:rPr lang="en-US" altLang="en-US" dirty="0">
                <a:latin typeface="Arial" panose="020B0604020202020204" pitchFamily="34" charset="0"/>
              </a:rPr>
              <a:t> Provides an interface for creating families of related or dependent objects without specifying their concrete classes</a:t>
            </a:r>
          </a:p>
          <a:p>
            <a:pPr lvl="1"/>
            <a:r>
              <a:rPr lang="en-US" altLang="en-US" b="1" dirty="0">
                <a:latin typeface="Arial" panose="020B0604020202020204" pitchFamily="34" charset="0"/>
              </a:rPr>
              <a:t>Singleton:</a:t>
            </a:r>
            <a:r>
              <a:rPr lang="en-US" altLang="en-US" dirty="0">
                <a:latin typeface="Arial" panose="020B0604020202020204" pitchFamily="34" charset="0"/>
              </a:rPr>
              <a:t> Ensures a class has only one instance and provides a global point of access to it</a:t>
            </a:r>
          </a:p>
          <a:p>
            <a:pPr lvl="1"/>
            <a:r>
              <a:rPr lang="en-US" altLang="en-US" b="1" dirty="0">
                <a:latin typeface="Arial" panose="020B0604020202020204" pitchFamily="34" charset="0"/>
              </a:rPr>
              <a:t>Builder:</a:t>
            </a:r>
            <a:r>
              <a:rPr lang="en-US" altLang="en-US" dirty="0">
                <a:latin typeface="Arial" panose="020B0604020202020204" pitchFamily="34" charset="0"/>
              </a:rPr>
              <a:t> Separates the construction of a complex object from its representation, allowing the same construction process to create different representations.   </a:t>
            </a:r>
          </a:p>
          <a:p>
            <a:pPr lvl="1"/>
            <a:r>
              <a:rPr lang="en-US" altLang="en-US" b="1" dirty="0">
                <a:latin typeface="Arial" panose="020B0604020202020204" pitchFamily="34" charset="0"/>
              </a:rPr>
              <a:t>Prototype:</a:t>
            </a:r>
            <a:r>
              <a:rPr lang="en-US" altLang="en-US" dirty="0">
                <a:latin typeface="Arial" panose="020B0604020202020204" pitchFamily="34" charset="0"/>
              </a:rPr>
              <a:t> Creates new objects by copying an existing object</a:t>
            </a:r>
          </a:p>
          <a:p>
            <a:pPr lvl="1"/>
            <a:endParaRPr lang="en-US" altLang="en-US" dirty="0">
              <a:latin typeface="Arial" panose="020B0604020202020204" pitchFamily="34" charset="0"/>
            </a:endParaRPr>
          </a:p>
          <a:p>
            <a:pPr lvl="1"/>
            <a:endParaRPr lang="en-IN" dirty="0"/>
          </a:p>
        </p:txBody>
      </p:sp>
    </p:spTree>
    <p:extLst>
      <p:ext uri="{BB962C8B-B14F-4D97-AF65-F5344CB8AC3E}">
        <p14:creationId xmlns:p14="http://schemas.microsoft.com/office/powerpoint/2010/main" val="186023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D3DD-DC9A-F5ED-54A9-2D928857D472}"/>
              </a:ext>
            </a:extLst>
          </p:cNvPr>
          <p:cNvSpPr>
            <a:spLocks noGrp="1"/>
          </p:cNvSpPr>
          <p:nvPr>
            <p:ph type="title"/>
          </p:nvPr>
        </p:nvSpPr>
        <p:spPr/>
        <p:txBody>
          <a:bodyPr/>
          <a:lstStyle/>
          <a:p>
            <a:r>
              <a:rPr lang="en-GB" dirty="0"/>
              <a:t>Structural Patterns</a:t>
            </a:r>
            <a:endParaRPr lang="en-IN" dirty="0"/>
          </a:p>
        </p:txBody>
      </p:sp>
      <p:sp>
        <p:nvSpPr>
          <p:cNvPr id="3" name="Content Placeholder 2">
            <a:extLst>
              <a:ext uri="{FF2B5EF4-FFF2-40B4-BE49-F238E27FC236}">
                <a16:creationId xmlns:a16="http://schemas.microsoft.com/office/drawing/2014/main" id="{A0B87102-FE8F-9081-1192-8CD7AB017FB7}"/>
              </a:ext>
            </a:extLst>
          </p:cNvPr>
          <p:cNvSpPr>
            <a:spLocks noGrp="1"/>
          </p:cNvSpPr>
          <p:nvPr>
            <p:ph idx="1"/>
          </p:nvPr>
        </p:nvSpPr>
        <p:spPr>
          <a:xfrm>
            <a:off x="1527671" y="1962569"/>
            <a:ext cx="9520158" cy="3450613"/>
          </a:xfrm>
        </p:spPr>
        <p:txBody>
          <a:bodyPr>
            <a:normAutofit fontScale="85000" lnSpcReduction="10000"/>
          </a:bodyPr>
          <a:lstStyle/>
          <a:p>
            <a:r>
              <a:rPr lang="en-GB" dirty="0"/>
              <a:t>These patterns deal with how objects are composed and related to each other. They focus on the relationships between objects </a:t>
            </a:r>
          </a:p>
          <a:p>
            <a:r>
              <a:rPr lang="en-GB" dirty="0"/>
              <a:t>Examples</a:t>
            </a:r>
          </a:p>
          <a:p>
            <a:pPr lvl="1"/>
            <a:r>
              <a:rPr lang="en-GB" b="1" dirty="0"/>
              <a:t>Adapter:</a:t>
            </a:r>
            <a:r>
              <a:rPr lang="en-GB" dirty="0"/>
              <a:t> Converts the interface of a class into another interface clients expect</a:t>
            </a:r>
          </a:p>
          <a:p>
            <a:pPr lvl="1"/>
            <a:r>
              <a:rPr lang="en-GB" b="1" dirty="0"/>
              <a:t>Bridge:</a:t>
            </a:r>
            <a:r>
              <a:rPr lang="en-GB" dirty="0"/>
              <a:t> Decouples an abstraction from its implementation, so the two can vary independently</a:t>
            </a:r>
          </a:p>
          <a:p>
            <a:pPr lvl="1"/>
            <a:r>
              <a:rPr lang="en-GB" b="1" dirty="0"/>
              <a:t>Composite:</a:t>
            </a:r>
            <a:r>
              <a:rPr lang="en-GB" dirty="0"/>
              <a:t> Composes objects into tree structures to represent part-whole hierarchies</a:t>
            </a:r>
          </a:p>
          <a:p>
            <a:pPr lvl="1"/>
            <a:r>
              <a:rPr lang="en-GB" b="1" dirty="0"/>
              <a:t>Decorator:</a:t>
            </a:r>
            <a:r>
              <a:rPr lang="en-GB" dirty="0"/>
              <a:t> Attaches additional responsibilities to an object dynamically</a:t>
            </a:r>
          </a:p>
          <a:p>
            <a:pPr lvl="1"/>
            <a:r>
              <a:rPr lang="en-GB" b="1" dirty="0"/>
              <a:t>Facade:</a:t>
            </a:r>
            <a:r>
              <a:rPr lang="en-GB" dirty="0"/>
              <a:t> Provides a unified interface to a set of interfaces in a subsystem</a:t>
            </a:r>
          </a:p>
          <a:p>
            <a:pPr lvl="1"/>
            <a:r>
              <a:rPr lang="en-GB" b="1" dirty="0"/>
              <a:t>Flyweight:</a:t>
            </a:r>
            <a:r>
              <a:rPr lang="en-GB" dirty="0"/>
              <a:t> Reduces memory usage by sharing common objects</a:t>
            </a:r>
          </a:p>
          <a:p>
            <a:pPr lvl="1"/>
            <a:r>
              <a:rPr lang="en-GB" b="1" dirty="0"/>
              <a:t>Proxy:</a:t>
            </a:r>
            <a:r>
              <a:rPr lang="en-GB" dirty="0"/>
              <a:t> Provides a surrogate or placeholder for another object to control access to it</a:t>
            </a:r>
            <a:endParaRPr lang="en-US" altLang="en-US" dirty="0">
              <a:latin typeface="Arial" panose="020B0604020202020204" pitchFamily="34" charset="0"/>
            </a:endParaRPr>
          </a:p>
          <a:p>
            <a:pPr lvl="1"/>
            <a:endParaRPr lang="en-IN" dirty="0"/>
          </a:p>
        </p:txBody>
      </p:sp>
    </p:spTree>
    <p:extLst>
      <p:ext uri="{BB962C8B-B14F-4D97-AF65-F5344CB8AC3E}">
        <p14:creationId xmlns:p14="http://schemas.microsoft.com/office/powerpoint/2010/main" val="579763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D3DD-DC9A-F5ED-54A9-2D928857D472}"/>
              </a:ext>
            </a:extLst>
          </p:cNvPr>
          <p:cNvSpPr>
            <a:spLocks noGrp="1"/>
          </p:cNvSpPr>
          <p:nvPr>
            <p:ph type="title"/>
          </p:nvPr>
        </p:nvSpPr>
        <p:spPr/>
        <p:txBody>
          <a:bodyPr/>
          <a:lstStyle/>
          <a:p>
            <a:r>
              <a:rPr lang="en-IN" dirty="0"/>
              <a:t>Behavioural</a:t>
            </a:r>
            <a:r>
              <a:rPr lang="en-GB" dirty="0"/>
              <a:t> Patterns</a:t>
            </a:r>
            <a:endParaRPr lang="en-IN" dirty="0"/>
          </a:p>
        </p:txBody>
      </p:sp>
      <p:sp>
        <p:nvSpPr>
          <p:cNvPr id="3" name="Content Placeholder 2">
            <a:extLst>
              <a:ext uri="{FF2B5EF4-FFF2-40B4-BE49-F238E27FC236}">
                <a16:creationId xmlns:a16="http://schemas.microsoft.com/office/drawing/2014/main" id="{A0B87102-FE8F-9081-1192-8CD7AB017FB7}"/>
              </a:ext>
            </a:extLst>
          </p:cNvPr>
          <p:cNvSpPr>
            <a:spLocks noGrp="1"/>
          </p:cNvSpPr>
          <p:nvPr>
            <p:ph idx="1"/>
          </p:nvPr>
        </p:nvSpPr>
        <p:spPr>
          <a:xfrm>
            <a:off x="1527671" y="1962569"/>
            <a:ext cx="9520158" cy="3450613"/>
          </a:xfrm>
        </p:spPr>
        <p:txBody>
          <a:bodyPr>
            <a:normAutofit fontScale="62500" lnSpcReduction="20000"/>
          </a:bodyPr>
          <a:lstStyle/>
          <a:p>
            <a:r>
              <a:rPr lang="en-GB" dirty="0"/>
              <a:t>These patterns deal with how objects interact and communicate with each other. They focus on the algorithms and responsibilities of objects Examples</a:t>
            </a:r>
          </a:p>
          <a:p>
            <a:pPr lvl="1"/>
            <a:r>
              <a:rPr lang="en-GB" b="1" dirty="0"/>
              <a:t>Template Method:</a:t>
            </a:r>
            <a:r>
              <a:rPr lang="en-GB" dirty="0"/>
              <a:t> Defines the skeleton of an algorithm in an operation, deferring some steps to subclasses </a:t>
            </a:r>
          </a:p>
          <a:p>
            <a:pPr lvl="1"/>
            <a:r>
              <a:rPr lang="en-GB" b="1" dirty="0"/>
              <a:t>Strategy:</a:t>
            </a:r>
            <a:r>
              <a:rPr lang="en-GB" dirty="0"/>
              <a:t> Defines a family of algorithms, encapsulates each one, and makes them interchangeable</a:t>
            </a:r>
          </a:p>
          <a:p>
            <a:pPr lvl="1"/>
            <a:r>
              <a:rPr lang="en-GB" b="1" dirty="0"/>
              <a:t>Observer:</a:t>
            </a:r>
            <a:r>
              <a:rPr lang="en-GB" dirty="0"/>
              <a:t> Defines a one-to-many dependency between objects so that when one object changes state, all its dependents are notified and updated automatically</a:t>
            </a:r>
          </a:p>
          <a:p>
            <a:pPr lvl="1"/>
            <a:r>
              <a:rPr lang="en-GB" b="1" dirty="0"/>
              <a:t>Iterator:</a:t>
            </a:r>
            <a:r>
              <a:rPr lang="en-GB" dirty="0"/>
              <a:t> Provides a way to access the elements of an aggregate object sequentially without exposing its internal representation</a:t>
            </a:r>
          </a:p>
          <a:p>
            <a:pPr lvl="1"/>
            <a:r>
              <a:rPr lang="en-GB" b="1" dirty="0"/>
              <a:t>Visitor:</a:t>
            </a:r>
            <a:r>
              <a:rPr lang="en-GB" dirty="0"/>
              <a:t> Represents an operation to be performed on the elements of an object structure</a:t>
            </a:r>
          </a:p>
          <a:p>
            <a:pPr lvl="1"/>
            <a:r>
              <a:rPr lang="en-GB" b="1" dirty="0"/>
              <a:t>Mediator:</a:t>
            </a:r>
            <a:r>
              <a:rPr lang="en-GB" dirty="0"/>
              <a:t> Defines an object that encapsulates how a set of objects interact</a:t>
            </a:r>
          </a:p>
          <a:p>
            <a:pPr lvl="1"/>
            <a:r>
              <a:rPr lang="en-GB" b="1" dirty="0"/>
              <a:t>Memento:</a:t>
            </a:r>
            <a:r>
              <a:rPr lang="en-GB" dirty="0"/>
              <a:t> Captures the internal state of an object so that it can be restored to this state later</a:t>
            </a:r>
          </a:p>
          <a:p>
            <a:pPr lvl="1"/>
            <a:r>
              <a:rPr lang="en-GB" b="1" dirty="0"/>
              <a:t>State:</a:t>
            </a:r>
            <a:r>
              <a:rPr lang="en-GB" dirty="0"/>
              <a:t> Allows an object to alter its </a:t>
            </a:r>
            <a:r>
              <a:rPr lang="en-GB" dirty="0" err="1"/>
              <a:t>behavior</a:t>
            </a:r>
            <a:r>
              <a:rPr lang="en-GB" dirty="0"/>
              <a:t> when its internal state changes</a:t>
            </a:r>
          </a:p>
          <a:p>
            <a:pPr lvl="1"/>
            <a:r>
              <a:rPr lang="en-IN" b="1" dirty="0"/>
              <a:t>Command</a:t>
            </a:r>
            <a:r>
              <a:rPr lang="en-IN" dirty="0"/>
              <a:t>: Encapsulates a request as an object, thereby letting you parameterize clients with different requests, queue or log  requests, and support undoable operations</a:t>
            </a:r>
          </a:p>
        </p:txBody>
      </p:sp>
      <p:sp>
        <p:nvSpPr>
          <p:cNvPr id="5" name="Rectangle 2">
            <a:extLst>
              <a:ext uri="{FF2B5EF4-FFF2-40B4-BE49-F238E27FC236}">
                <a16:creationId xmlns:a16="http://schemas.microsoft.com/office/drawing/2014/main" id="{4D43BA9A-1814-C545-E0FD-9A0E36F61F2F}"/>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9379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8976-2926-5D16-274D-7DB5F33F3BCA}"/>
              </a:ext>
            </a:extLst>
          </p:cNvPr>
          <p:cNvSpPr>
            <a:spLocks noGrp="1"/>
          </p:cNvSpPr>
          <p:nvPr>
            <p:ph type="title"/>
          </p:nvPr>
        </p:nvSpPr>
        <p:spPr/>
        <p:txBody>
          <a:bodyPr/>
          <a:lstStyle/>
          <a:p>
            <a:r>
              <a:rPr lang="en-GB" dirty="0"/>
              <a:t>Creational Patterns</a:t>
            </a:r>
            <a:endParaRPr lang="en-IN" dirty="0"/>
          </a:p>
        </p:txBody>
      </p:sp>
      <p:graphicFrame>
        <p:nvGraphicFramePr>
          <p:cNvPr id="4" name="Table 3">
            <a:extLst>
              <a:ext uri="{FF2B5EF4-FFF2-40B4-BE49-F238E27FC236}">
                <a16:creationId xmlns:a16="http://schemas.microsoft.com/office/drawing/2014/main" id="{A46BFEE5-5CC2-27F6-957B-82D3A2DE96A7}"/>
              </a:ext>
            </a:extLst>
          </p:cNvPr>
          <p:cNvGraphicFramePr>
            <a:graphicFrameLocks noGrp="1"/>
          </p:cNvGraphicFramePr>
          <p:nvPr>
            <p:extLst>
              <p:ext uri="{D42A27DB-BD31-4B8C-83A1-F6EECF244321}">
                <p14:modId xmlns:p14="http://schemas.microsoft.com/office/powerpoint/2010/main" val="2804835522"/>
              </p:ext>
            </p:extLst>
          </p:nvPr>
        </p:nvGraphicFramePr>
        <p:xfrm>
          <a:off x="1924447" y="2211335"/>
          <a:ext cx="8842869" cy="3449636"/>
        </p:xfrm>
        <a:graphic>
          <a:graphicData uri="http://schemas.openxmlformats.org/drawingml/2006/table">
            <a:tbl>
              <a:tblPr>
                <a:tableStyleId>{18603FDC-E32A-4AB5-989C-0864C3EAD2B8}</a:tableStyleId>
              </a:tblPr>
              <a:tblGrid>
                <a:gridCol w="2090997">
                  <a:extLst>
                    <a:ext uri="{9D8B030D-6E8A-4147-A177-3AD203B41FA5}">
                      <a16:colId xmlns:a16="http://schemas.microsoft.com/office/drawing/2014/main" val="268247905"/>
                    </a:ext>
                  </a:extLst>
                </a:gridCol>
                <a:gridCol w="3804249">
                  <a:extLst>
                    <a:ext uri="{9D8B030D-6E8A-4147-A177-3AD203B41FA5}">
                      <a16:colId xmlns:a16="http://schemas.microsoft.com/office/drawing/2014/main" val="3965329068"/>
                    </a:ext>
                  </a:extLst>
                </a:gridCol>
                <a:gridCol w="2947623">
                  <a:extLst>
                    <a:ext uri="{9D8B030D-6E8A-4147-A177-3AD203B41FA5}">
                      <a16:colId xmlns:a16="http://schemas.microsoft.com/office/drawing/2014/main" val="2635334998"/>
                    </a:ext>
                  </a:extLst>
                </a:gridCol>
              </a:tblGrid>
              <a:tr h="306634">
                <a:tc>
                  <a:txBody>
                    <a:bodyPr/>
                    <a:lstStyle/>
                    <a:p>
                      <a:r>
                        <a:rPr lang="en-IN" sz="1500" dirty="0"/>
                        <a:t>Pattern Name</a:t>
                      </a:r>
                    </a:p>
                  </a:txBody>
                  <a:tcPr marL="76659" marR="76659" marT="38329" marB="38329" anchor="ctr"/>
                </a:tc>
                <a:tc>
                  <a:txBody>
                    <a:bodyPr/>
                    <a:lstStyle/>
                    <a:p>
                      <a:r>
                        <a:rPr lang="en-IN" sz="1500" dirty="0"/>
                        <a:t>Purpose</a:t>
                      </a:r>
                    </a:p>
                  </a:txBody>
                  <a:tcPr marL="76659" marR="76659" marT="38329" marB="38329" anchor="ctr"/>
                </a:tc>
                <a:tc>
                  <a:txBody>
                    <a:bodyPr/>
                    <a:lstStyle/>
                    <a:p>
                      <a:r>
                        <a:rPr lang="en-IN" sz="1500"/>
                        <a:t>Example</a:t>
                      </a:r>
                    </a:p>
                  </a:txBody>
                  <a:tcPr marL="76659" marR="76659" marT="38329" marB="38329" anchor="ctr"/>
                </a:tc>
                <a:extLst>
                  <a:ext uri="{0D108BD9-81ED-4DB2-BD59-A6C34878D82A}">
                    <a16:rowId xmlns:a16="http://schemas.microsoft.com/office/drawing/2014/main" val="1015574275"/>
                  </a:ext>
                </a:extLst>
              </a:tr>
              <a:tr h="766586">
                <a:tc>
                  <a:txBody>
                    <a:bodyPr/>
                    <a:lstStyle/>
                    <a:p>
                      <a:r>
                        <a:rPr lang="en-IN" sz="1500"/>
                        <a:t>Abstract Factory</a:t>
                      </a:r>
                    </a:p>
                  </a:txBody>
                  <a:tcPr marL="76659" marR="76659" marT="38329" marB="38329" anchor="ctr"/>
                </a:tc>
                <a:tc>
                  <a:txBody>
                    <a:bodyPr/>
                    <a:lstStyle/>
                    <a:p>
                      <a:r>
                        <a:rPr lang="en-GB" sz="1500"/>
                        <a:t>Creates an instance of several families of classes</a:t>
                      </a:r>
                    </a:p>
                  </a:txBody>
                  <a:tcPr marL="76659" marR="76659" marT="38329" marB="38329" anchor="ctr"/>
                </a:tc>
                <a:tc>
                  <a:txBody>
                    <a:bodyPr/>
                    <a:lstStyle/>
                    <a:p>
                      <a:r>
                        <a:rPr lang="en-GB" sz="1500"/>
                        <a:t>A factory for creating different types of cars (e.g., sports cars, sedans, SUVs)</a:t>
                      </a:r>
                    </a:p>
                  </a:txBody>
                  <a:tcPr marL="76659" marR="76659" marT="38329" marB="38329" anchor="ctr"/>
                </a:tc>
                <a:extLst>
                  <a:ext uri="{0D108BD9-81ED-4DB2-BD59-A6C34878D82A}">
                    <a16:rowId xmlns:a16="http://schemas.microsoft.com/office/drawing/2014/main" val="4231374710"/>
                  </a:ext>
                </a:extLst>
              </a:tr>
              <a:tr h="536610">
                <a:tc>
                  <a:txBody>
                    <a:bodyPr/>
                    <a:lstStyle/>
                    <a:p>
                      <a:r>
                        <a:rPr lang="en-IN" sz="1500"/>
                        <a:t>Builder</a:t>
                      </a:r>
                    </a:p>
                  </a:txBody>
                  <a:tcPr marL="76659" marR="76659" marT="38329" marB="38329" anchor="ctr"/>
                </a:tc>
                <a:tc>
                  <a:txBody>
                    <a:bodyPr/>
                    <a:lstStyle/>
                    <a:p>
                      <a:r>
                        <a:rPr lang="en-GB" sz="1500"/>
                        <a:t>Separates object construction from its representation</a:t>
                      </a:r>
                    </a:p>
                  </a:txBody>
                  <a:tcPr marL="76659" marR="76659" marT="38329" marB="38329" anchor="ctr"/>
                </a:tc>
                <a:tc>
                  <a:txBody>
                    <a:bodyPr/>
                    <a:lstStyle/>
                    <a:p>
                      <a:r>
                        <a:rPr lang="en-GB" sz="1500"/>
                        <a:t>A builder for creating complex objects like houses</a:t>
                      </a:r>
                    </a:p>
                  </a:txBody>
                  <a:tcPr marL="76659" marR="76659" marT="38329" marB="38329" anchor="ctr"/>
                </a:tc>
                <a:extLst>
                  <a:ext uri="{0D108BD9-81ED-4DB2-BD59-A6C34878D82A}">
                    <a16:rowId xmlns:a16="http://schemas.microsoft.com/office/drawing/2014/main" val="4180439508"/>
                  </a:ext>
                </a:extLst>
              </a:tr>
              <a:tr h="766586">
                <a:tc>
                  <a:txBody>
                    <a:bodyPr/>
                    <a:lstStyle/>
                    <a:p>
                      <a:r>
                        <a:rPr lang="en-IN" sz="1500"/>
                        <a:t>Factory Method</a:t>
                      </a:r>
                    </a:p>
                  </a:txBody>
                  <a:tcPr marL="76659" marR="76659" marT="38329" marB="38329" anchor="ctr"/>
                </a:tc>
                <a:tc>
                  <a:txBody>
                    <a:bodyPr/>
                    <a:lstStyle/>
                    <a:p>
                      <a:r>
                        <a:rPr lang="en-GB" sz="1500"/>
                        <a:t>Creates an instance of several derived classes</a:t>
                      </a:r>
                    </a:p>
                  </a:txBody>
                  <a:tcPr marL="76659" marR="76659" marT="38329" marB="38329" anchor="ctr"/>
                </a:tc>
                <a:tc>
                  <a:txBody>
                    <a:bodyPr/>
                    <a:lstStyle/>
                    <a:p>
                      <a:r>
                        <a:rPr lang="en-GB" sz="1500"/>
                        <a:t>A factory for creating different types of documents (e.g., Word, PDF)</a:t>
                      </a:r>
                    </a:p>
                  </a:txBody>
                  <a:tcPr marL="76659" marR="76659" marT="38329" marB="38329" anchor="ctr"/>
                </a:tc>
                <a:extLst>
                  <a:ext uri="{0D108BD9-81ED-4DB2-BD59-A6C34878D82A}">
                    <a16:rowId xmlns:a16="http://schemas.microsoft.com/office/drawing/2014/main" val="259993033"/>
                  </a:ext>
                </a:extLst>
              </a:tr>
              <a:tr h="536610">
                <a:tc>
                  <a:txBody>
                    <a:bodyPr/>
                    <a:lstStyle/>
                    <a:p>
                      <a:r>
                        <a:rPr lang="en-IN" sz="1500"/>
                        <a:t>Prototype</a:t>
                      </a:r>
                    </a:p>
                  </a:txBody>
                  <a:tcPr marL="76659" marR="76659" marT="38329" marB="38329" anchor="ctr"/>
                </a:tc>
                <a:tc>
                  <a:txBody>
                    <a:bodyPr/>
                    <a:lstStyle/>
                    <a:p>
                      <a:r>
                        <a:rPr lang="en-GB" sz="1500"/>
                        <a:t>A fully initialized instance to be copied or cloned</a:t>
                      </a:r>
                    </a:p>
                  </a:txBody>
                  <a:tcPr marL="76659" marR="76659" marT="38329" marB="38329" anchor="ctr"/>
                </a:tc>
                <a:tc>
                  <a:txBody>
                    <a:bodyPr/>
                    <a:lstStyle/>
                    <a:p>
                      <a:r>
                        <a:rPr lang="en-GB" sz="1500"/>
                        <a:t>Cloning a user object to create a new user</a:t>
                      </a:r>
                    </a:p>
                  </a:txBody>
                  <a:tcPr marL="76659" marR="76659" marT="38329" marB="38329" anchor="ctr"/>
                </a:tc>
                <a:extLst>
                  <a:ext uri="{0D108BD9-81ED-4DB2-BD59-A6C34878D82A}">
                    <a16:rowId xmlns:a16="http://schemas.microsoft.com/office/drawing/2014/main" val="3241089440"/>
                  </a:ext>
                </a:extLst>
              </a:tr>
              <a:tr h="536610">
                <a:tc>
                  <a:txBody>
                    <a:bodyPr/>
                    <a:lstStyle/>
                    <a:p>
                      <a:r>
                        <a:rPr lang="en-IN" sz="1500"/>
                        <a:t>Singleton</a:t>
                      </a:r>
                    </a:p>
                  </a:txBody>
                  <a:tcPr marL="76659" marR="76659" marT="38329" marB="38329" anchor="ctr"/>
                </a:tc>
                <a:tc>
                  <a:txBody>
                    <a:bodyPr/>
                    <a:lstStyle/>
                    <a:p>
                      <a:r>
                        <a:rPr lang="en-GB" sz="1500"/>
                        <a:t>A class of which only a single instance can exist</a:t>
                      </a:r>
                    </a:p>
                  </a:txBody>
                  <a:tcPr marL="76659" marR="76659" marT="38329" marB="38329" anchor="ctr"/>
                </a:tc>
                <a:tc>
                  <a:txBody>
                    <a:bodyPr/>
                    <a:lstStyle/>
                    <a:p>
                      <a:r>
                        <a:rPr lang="en-IN" sz="1500" dirty="0"/>
                        <a:t>A database connection pool</a:t>
                      </a:r>
                    </a:p>
                  </a:txBody>
                  <a:tcPr marL="76659" marR="76659" marT="38329" marB="38329" anchor="ctr"/>
                </a:tc>
                <a:extLst>
                  <a:ext uri="{0D108BD9-81ED-4DB2-BD59-A6C34878D82A}">
                    <a16:rowId xmlns:a16="http://schemas.microsoft.com/office/drawing/2014/main" val="2518174146"/>
                  </a:ext>
                </a:extLst>
              </a:tr>
            </a:tbl>
          </a:graphicData>
        </a:graphic>
      </p:graphicFrame>
    </p:spTree>
    <p:extLst>
      <p:ext uri="{BB962C8B-B14F-4D97-AF65-F5344CB8AC3E}">
        <p14:creationId xmlns:p14="http://schemas.microsoft.com/office/powerpoint/2010/main" val="100797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8976-2926-5D16-274D-7DB5F33F3BCA}"/>
              </a:ext>
            </a:extLst>
          </p:cNvPr>
          <p:cNvSpPr>
            <a:spLocks noGrp="1"/>
          </p:cNvSpPr>
          <p:nvPr>
            <p:ph type="title"/>
          </p:nvPr>
        </p:nvSpPr>
        <p:spPr/>
        <p:txBody>
          <a:bodyPr/>
          <a:lstStyle/>
          <a:p>
            <a:r>
              <a:rPr lang="en-GB" dirty="0"/>
              <a:t>Structural Patterns</a:t>
            </a:r>
            <a:endParaRPr lang="en-IN" dirty="0"/>
          </a:p>
        </p:txBody>
      </p:sp>
      <p:graphicFrame>
        <p:nvGraphicFramePr>
          <p:cNvPr id="3" name="Table 2">
            <a:extLst>
              <a:ext uri="{FF2B5EF4-FFF2-40B4-BE49-F238E27FC236}">
                <a16:creationId xmlns:a16="http://schemas.microsoft.com/office/drawing/2014/main" id="{47AD5326-5725-67A9-1F44-CAAAD9AC5A2A}"/>
              </a:ext>
            </a:extLst>
          </p:cNvPr>
          <p:cNvGraphicFramePr>
            <a:graphicFrameLocks noGrp="1"/>
          </p:cNvGraphicFramePr>
          <p:nvPr>
            <p:extLst>
              <p:ext uri="{D42A27DB-BD31-4B8C-83A1-F6EECF244321}">
                <p14:modId xmlns:p14="http://schemas.microsoft.com/office/powerpoint/2010/main" val="2878198029"/>
              </p:ext>
            </p:extLst>
          </p:nvPr>
        </p:nvGraphicFramePr>
        <p:xfrm>
          <a:off x="1781415" y="2009624"/>
          <a:ext cx="9520158" cy="3541581"/>
        </p:xfrm>
        <a:graphic>
          <a:graphicData uri="http://schemas.openxmlformats.org/drawingml/2006/table">
            <a:tbl>
              <a:tblPr>
                <a:tableStyleId>{18603FDC-E32A-4AB5-989C-0864C3EAD2B8}</a:tableStyleId>
              </a:tblPr>
              <a:tblGrid>
                <a:gridCol w="1824814">
                  <a:extLst>
                    <a:ext uri="{9D8B030D-6E8A-4147-A177-3AD203B41FA5}">
                      <a16:colId xmlns:a16="http://schemas.microsoft.com/office/drawing/2014/main" val="3657769695"/>
                    </a:ext>
                  </a:extLst>
                </a:gridCol>
                <a:gridCol w="4521958">
                  <a:extLst>
                    <a:ext uri="{9D8B030D-6E8A-4147-A177-3AD203B41FA5}">
                      <a16:colId xmlns:a16="http://schemas.microsoft.com/office/drawing/2014/main" val="3626776243"/>
                    </a:ext>
                  </a:extLst>
                </a:gridCol>
                <a:gridCol w="3173386">
                  <a:extLst>
                    <a:ext uri="{9D8B030D-6E8A-4147-A177-3AD203B41FA5}">
                      <a16:colId xmlns:a16="http://schemas.microsoft.com/office/drawing/2014/main" val="2313762883"/>
                    </a:ext>
                  </a:extLst>
                </a:gridCol>
              </a:tblGrid>
              <a:tr h="223529">
                <a:tc>
                  <a:txBody>
                    <a:bodyPr/>
                    <a:lstStyle/>
                    <a:p>
                      <a:r>
                        <a:rPr lang="en-IN" sz="1200" b="1"/>
                        <a:t>Pattern Name</a:t>
                      </a:r>
                    </a:p>
                  </a:txBody>
                  <a:tcPr marL="55639" marR="55639" marT="27820" marB="27820" anchor="ctr"/>
                </a:tc>
                <a:tc>
                  <a:txBody>
                    <a:bodyPr/>
                    <a:lstStyle/>
                    <a:p>
                      <a:r>
                        <a:rPr lang="en-IN" sz="1200" b="1"/>
                        <a:t>Purpose</a:t>
                      </a:r>
                    </a:p>
                  </a:txBody>
                  <a:tcPr marL="55639" marR="55639" marT="27820" marB="27820" anchor="ctr"/>
                </a:tc>
                <a:tc>
                  <a:txBody>
                    <a:bodyPr/>
                    <a:lstStyle/>
                    <a:p>
                      <a:r>
                        <a:rPr lang="en-IN" sz="1200" b="1"/>
                        <a:t>Example</a:t>
                      </a:r>
                    </a:p>
                  </a:txBody>
                  <a:tcPr marL="55639" marR="55639" marT="27820" marB="27820" anchor="ctr"/>
                </a:tc>
                <a:extLst>
                  <a:ext uri="{0D108BD9-81ED-4DB2-BD59-A6C34878D82A}">
                    <a16:rowId xmlns:a16="http://schemas.microsoft.com/office/drawing/2014/main" val="822678003"/>
                  </a:ext>
                </a:extLst>
              </a:tr>
              <a:tr h="559183">
                <a:tc>
                  <a:txBody>
                    <a:bodyPr/>
                    <a:lstStyle/>
                    <a:p>
                      <a:r>
                        <a:rPr lang="en-IN" sz="1200" b="1" dirty="0"/>
                        <a:t>Adapter</a:t>
                      </a:r>
                    </a:p>
                  </a:txBody>
                  <a:tcPr marL="55639" marR="55639" marT="27820" marB="27820" anchor="ctr"/>
                </a:tc>
                <a:tc>
                  <a:txBody>
                    <a:bodyPr/>
                    <a:lstStyle/>
                    <a:p>
                      <a:r>
                        <a:rPr lang="en-GB" sz="1200" b="1" dirty="0"/>
                        <a:t>Match interfaces of different classes</a:t>
                      </a:r>
                    </a:p>
                  </a:txBody>
                  <a:tcPr marL="55639" marR="55639" marT="27820" marB="27820" anchor="ctr"/>
                </a:tc>
                <a:tc>
                  <a:txBody>
                    <a:bodyPr/>
                    <a:lstStyle/>
                    <a:p>
                      <a:r>
                        <a:rPr lang="en-GB" sz="1200" b="1" dirty="0"/>
                        <a:t>Adapting a legacy database to work with a modern framework</a:t>
                      </a:r>
                    </a:p>
                  </a:txBody>
                  <a:tcPr marL="55639" marR="55639" marT="27820" marB="27820" anchor="ctr"/>
                </a:tc>
                <a:extLst>
                  <a:ext uri="{0D108BD9-81ED-4DB2-BD59-A6C34878D82A}">
                    <a16:rowId xmlns:a16="http://schemas.microsoft.com/office/drawing/2014/main" val="3829299134"/>
                  </a:ext>
                </a:extLst>
              </a:tr>
              <a:tr h="559183">
                <a:tc>
                  <a:txBody>
                    <a:bodyPr/>
                    <a:lstStyle/>
                    <a:p>
                      <a:r>
                        <a:rPr lang="en-IN" sz="1200" b="1" dirty="0"/>
                        <a:t>Bridge</a:t>
                      </a:r>
                    </a:p>
                  </a:txBody>
                  <a:tcPr marL="55639" marR="55639" marT="27820" marB="27820" anchor="ctr"/>
                </a:tc>
                <a:tc>
                  <a:txBody>
                    <a:bodyPr/>
                    <a:lstStyle/>
                    <a:p>
                      <a:r>
                        <a:rPr lang="en-GB" sz="1200" b="1"/>
                        <a:t>Separates an object’s interface from its implementation</a:t>
                      </a:r>
                    </a:p>
                  </a:txBody>
                  <a:tcPr marL="55639" marR="55639" marT="27820" marB="27820" anchor="ctr"/>
                </a:tc>
                <a:tc>
                  <a:txBody>
                    <a:bodyPr/>
                    <a:lstStyle/>
                    <a:p>
                      <a:r>
                        <a:rPr lang="en-GB" sz="1200" b="1"/>
                        <a:t>A bridge between a drawing API and different drawing platforms</a:t>
                      </a:r>
                    </a:p>
                  </a:txBody>
                  <a:tcPr marL="55639" marR="55639" marT="27820" marB="27820" anchor="ctr"/>
                </a:tc>
                <a:extLst>
                  <a:ext uri="{0D108BD9-81ED-4DB2-BD59-A6C34878D82A}">
                    <a16:rowId xmlns:a16="http://schemas.microsoft.com/office/drawing/2014/main" val="47365897"/>
                  </a:ext>
                </a:extLst>
              </a:tr>
              <a:tr h="391356">
                <a:tc>
                  <a:txBody>
                    <a:bodyPr/>
                    <a:lstStyle/>
                    <a:p>
                      <a:r>
                        <a:rPr lang="en-IN" sz="1200" b="1"/>
                        <a:t>Composite</a:t>
                      </a:r>
                    </a:p>
                  </a:txBody>
                  <a:tcPr marL="55639" marR="55639" marT="27820" marB="27820" anchor="ctr"/>
                </a:tc>
                <a:tc>
                  <a:txBody>
                    <a:bodyPr/>
                    <a:lstStyle/>
                    <a:p>
                      <a:r>
                        <a:rPr lang="en-GB" sz="1200" b="1"/>
                        <a:t>A tree structure of simple and composite objects</a:t>
                      </a:r>
                    </a:p>
                  </a:txBody>
                  <a:tcPr marL="55639" marR="55639" marT="27820" marB="27820" anchor="ctr"/>
                </a:tc>
                <a:tc>
                  <a:txBody>
                    <a:bodyPr/>
                    <a:lstStyle/>
                    <a:p>
                      <a:r>
                        <a:rPr lang="en-IN" sz="1200" b="1"/>
                        <a:t>A file system hierarchy</a:t>
                      </a:r>
                    </a:p>
                  </a:txBody>
                  <a:tcPr marL="55639" marR="55639" marT="27820" marB="27820" anchor="ctr"/>
                </a:tc>
                <a:extLst>
                  <a:ext uri="{0D108BD9-81ED-4DB2-BD59-A6C34878D82A}">
                    <a16:rowId xmlns:a16="http://schemas.microsoft.com/office/drawing/2014/main" val="255646321"/>
                  </a:ext>
                </a:extLst>
              </a:tr>
              <a:tr h="391356">
                <a:tc>
                  <a:txBody>
                    <a:bodyPr/>
                    <a:lstStyle/>
                    <a:p>
                      <a:r>
                        <a:rPr lang="en-IN" sz="1200" b="1"/>
                        <a:t>Decorator</a:t>
                      </a:r>
                    </a:p>
                  </a:txBody>
                  <a:tcPr marL="55639" marR="55639" marT="27820" marB="27820" anchor="ctr"/>
                </a:tc>
                <a:tc>
                  <a:txBody>
                    <a:bodyPr/>
                    <a:lstStyle/>
                    <a:p>
                      <a:r>
                        <a:rPr lang="en-GB" sz="1200" b="1"/>
                        <a:t>Add responsibilities to objects dynamically</a:t>
                      </a:r>
                    </a:p>
                  </a:txBody>
                  <a:tcPr marL="55639" marR="55639" marT="27820" marB="27820" anchor="ctr"/>
                </a:tc>
                <a:tc>
                  <a:txBody>
                    <a:bodyPr/>
                    <a:lstStyle/>
                    <a:p>
                      <a:r>
                        <a:rPr lang="en-GB" sz="1200" b="1"/>
                        <a:t>Adding features to a basic car (e.g., sunroof, GPS)</a:t>
                      </a:r>
                    </a:p>
                  </a:txBody>
                  <a:tcPr marL="55639" marR="55639" marT="27820" marB="27820" anchor="ctr"/>
                </a:tc>
                <a:extLst>
                  <a:ext uri="{0D108BD9-81ED-4DB2-BD59-A6C34878D82A}">
                    <a16:rowId xmlns:a16="http://schemas.microsoft.com/office/drawing/2014/main" val="3223427535"/>
                  </a:ext>
                </a:extLst>
              </a:tr>
              <a:tr h="559183">
                <a:tc>
                  <a:txBody>
                    <a:bodyPr/>
                    <a:lstStyle/>
                    <a:p>
                      <a:r>
                        <a:rPr lang="en-IN" sz="1200" b="1"/>
                        <a:t>Facade</a:t>
                      </a:r>
                    </a:p>
                  </a:txBody>
                  <a:tcPr marL="55639" marR="55639" marT="27820" marB="27820" anchor="ctr"/>
                </a:tc>
                <a:tc>
                  <a:txBody>
                    <a:bodyPr/>
                    <a:lstStyle/>
                    <a:p>
                      <a:r>
                        <a:rPr lang="en-GB" sz="1200" b="1"/>
                        <a:t>A single class that represents an entire subsystem</a:t>
                      </a:r>
                    </a:p>
                  </a:txBody>
                  <a:tcPr marL="55639" marR="55639" marT="27820" marB="27820" anchor="ctr"/>
                </a:tc>
                <a:tc>
                  <a:txBody>
                    <a:bodyPr/>
                    <a:lstStyle/>
                    <a:p>
                      <a:r>
                        <a:rPr lang="en-GB" sz="1200" b="1" dirty="0"/>
                        <a:t>A facade for a complex subsystem like a network library</a:t>
                      </a:r>
                    </a:p>
                  </a:txBody>
                  <a:tcPr marL="55639" marR="55639" marT="27820" marB="27820" anchor="ctr"/>
                </a:tc>
                <a:extLst>
                  <a:ext uri="{0D108BD9-81ED-4DB2-BD59-A6C34878D82A}">
                    <a16:rowId xmlns:a16="http://schemas.microsoft.com/office/drawing/2014/main" val="1885115754"/>
                  </a:ext>
                </a:extLst>
              </a:tr>
              <a:tr h="391356">
                <a:tc>
                  <a:txBody>
                    <a:bodyPr/>
                    <a:lstStyle/>
                    <a:p>
                      <a:r>
                        <a:rPr lang="en-IN" sz="1200" b="1"/>
                        <a:t>Flyweight</a:t>
                      </a:r>
                    </a:p>
                  </a:txBody>
                  <a:tcPr marL="55639" marR="55639" marT="27820" marB="27820" anchor="ctr"/>
                </a:tc>
                <a:tc>
                  <a:txBody>
                    <a:bodyPr/>
                    <a:lstStyle/>
                    <a:p>
                      <a:r>
                        <a:rPr lang="en-GB" sz="1200" b="1"/>
                        <a:t>A fine-grained instance used for efficient sharing</a:t>
                      </a:r>
                    </a:p>
                  </a:txBody>
                  <a:tcPr marL="55639" marR="55639" marT="27820" marB="27820" anchor="ctr"/>
                </a:tc>
                <a:tc>
                  <a:txBody>
                    <a:bodyPr/>
                    <a:lstStyle/>
                    <a:p>
                      <a:r>
                        <a:rPr lang="en-GB" sz="1200" b="1"/>
                        <a:t>Sharing character objects in a word processor</a:t>
                      </a:r>
                    </a:p>
                  </a:txBody>
                  <a:tcPr marL="55639" marR="55639" marT="27820" marB="27820" anchor="ctr"/>
                </a:tc>
                <a:extLst>
                  <a:ext uri="{0D108BD9-81ED-4DB2-BD59-A6C34878D82A}">
                    <a16:rowId xmlns:a16="http://schemas.microsoft.com/office/drawing/2014/main" val="1581712023"/>
                  </a:ext>
                </a:extLst>
              </a:tr>
              <a:tr h="391356">
                <a:tc>
                  <a:txBody>
                    <a:bodyPr/>
                    <a:lstStyle/>
                    <a:p>
                      <a:r>
                        <a:rPr lang="en-IN" sz="1200" b="1"/>
                        <a:t>Proxy</a:t>
                      </a:r>
                    </a:p>
                  </a:txBody>
                  <a:tcPr marL="55639" marR="55639" marT="27820" marB="27820" anchor="ctr"/>
                </a:tc>
                <a:tc>
                  <a:txBody>
                    <a:bodyPr/>
                    <a:lstStyle/>
                    <a:p>
                      <a:r>
                        <a:rPr lang="en-GB" sz="1200" b="1"/>
                        <a:t>An object representing another object</a:t>
                      </a:r>
                    </a:p>
                  </a:txBody>
                  <a:tcPr marL="55639" marR="55639" marT="27820" marB="27820" anchor="ctr"/>
                </a:tc>
                <a:tc>
                  <a:txBody>
                    <a:bodyPr/>
                    <a:lstStyle/>
                    <a:p>
                      <a:r>
                        <a:rPr lang="en-GB" sz="1200" b="1" dirty="0"/>
                        <a:t>A proxy for a remote object</a:t>
                      </a:r>
                    </a:p>
                  </a:txBody>
                  <a:tcPr marL="55639" marR="55639" marT="27820" marB="27820" anchor="ctr"/>
                </a:tc>
                <a:extLst>
                  <a:ext uri="{0D108BD9-81ED-4DB2-BD59-A6C34878D82A}">
                    <a16:rowId xmlns:a16="http://schemas.microsoft.com/office/drawing/2014/main" val="2397639749"/>
                  </a:ext>
                </a:extLst>
              </a:tr>
            </a:tbl>
          </a:graphicData>
        </a:graphic>
      </p:graphicFrame>
    </p:spTree>
    <p:extLst>
      <p:ext uri="{BB962C8B-B14F-4D97-AF65-F5344CB8AC3E}">
        <p14:creationId xmlns:p14="http://schemas.microsoft.com/office/powerpoint/2010/main" val="356721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8976-2926-5D16-274D-7DB5F33F3BCA}"/>
              </a:ext>
            </a:extLst>
          </p:cNvPr>
          <p:cNvSpPr>
            <a:spLocks noGrp="1"/>
          </p:cNvSpPr>
          <p:nvPr>
            <p:ph type="title"/>
          </p:nvPr>
        </p:nvSpPr>
        <p:spPr/>
        <p:txBody>
          <a:bodyPr/>
          <a:lstStyle/>
          <a:p>
            <a:r>
              <a:rPr lang="en-IN" dirty="0"/>
              <a:t>Behavioural</a:t>
            </a:r>
            <a:r>
              <a:rPr lang="en-GB" dirty="0"/>
              <a:t> Patterns</a:t>
            </a:r>
            <a:endParaRPr lang="en-IN" dirty="0"/>
          </a:p>
        </p:txBody>
      </p:sp>
      <p:graphicFrame>
        <p:nvGraphicFramePr>
          <p:cNvPr id="3" name="Table 2">
            <a:extLst>
              <a:ext uri="{FF2B5EF4-FFF2-40B4-BE49-F238E27FC236}">
                <a16:creationId xmlns:a16="http://schemas.microsoft.com/office/drawing/2014/main" id="{81AF725A-C9B7-E9F9-60EB-A0A2CFEB46C7}"/>
              </a:ext>
            </a:extLst>
          </p:cNvPr>
          <p:cNvGraphicFramePr>
            <a:graphicFrameLocks noGrp="1"/>
          </p:cNvGraphicFramePr>
          <p:nvPr>
            <p:extLst>
              <p:ext uri="{D42A27DB-BD31-4B8C-83A1-F6EECF244321}">
                <p14:modId xmlns:p14="http://schemas.microsoft.com/office/powerpoint/2010/main" val="3510014676"/>
              </p:ext>
            </p:extLst>
          </p:nvPr>
        </p:nvGraphicFramePr>
        <p:xfrm>
          <a:off x="1637436" y="1853754"/>
          <a:ext cx="8482607" cy="4275763"/>
        </p:xfrm>
        <a:graphic>
          <a:graphicData uri="http://schemas.openxmlformats.org/drawingml/2006/table">
            <a:tbl>
              <a:tblPr>
                <a:tableStyleId>{18603FDC-E32A-4AB5-989C-0864C3EAD2B8}</a:tableStyleId>
              </a:tblPr>
              <a:tblGrid>
                <a:gridCol w="1047175">
                  <a:extLst>
                    <a:ext uri="{9D8B030D-6E8A-4147-A177-3AD203B41FA5}">
                      <a16:colId xmlns:a16="http://schemas.microsoft.com/office/drawing/2014/main" val="1573934039"/>
                    </a:ext>
                  </a:extLst>
                </a:gridCol>
                <a:gridCol w="2550720">
                  <a:extLst>
                    <a:ext uri="{9D8B030D-6E8A-4147-A177-3AD203B41FA5}">
                      <a16:colId xmlns:a16="http://schemas.microsoft.com/office/drawing/2014/main" val="121969737"/>
                    </a:ext>
                  </a:extLst>
                </a:gridCol>
                <a:gridCol w="4884712">
                  <a:extLst>
                    <a:ext uri="{9D8B030D-6E8A-4147-A177-3AD203B41FA5}">
                      <a16:colId xmlns:a16="http://schemas.microsoft.com/office/drawing/2014/main" val="3334273725"/>
                    </a:ext>
                  </a:extLst>
                </a:gridCol>
              </a:tblGrid>
              <a:tr h="192254">
                <a:tc>
                  <a:txBody>
                    <a:bodyPr/>
                    <a:lstStyle/>
                    <a:p>
                      <a:r>
                        <a:rPr lang="en-IN" sz="1100" b="1" dirty="0"/>
                        <a:t>Pattern Name</a:t>
                      </a:r>
                    </a:p>
                  </a:txBody>
                  <a:tcPr marL="41067" marR="41067" marT="20534" marB="20534" anchor="ctr"/>
                </a:tc>
                <a:tc>
                  <a:txBody>
                    <a:bodyPr/>
                    <a:lstStyle/>
                    <a:p>
                      <a:r>
                        <a:rPr lang="en-IN" sz="1100" b="1"/>
                        <a:t>Purpose</a:t>
                      </a:r>
                    </a:p>
                  </a:txBody>
                  <a:tcPr marL="41067" marR="41067" marT="20534" marB="20534" anchor="ctr"/>
                </a:tc>
                <a:tc>
                  <a:txBody>
                    <a:bodyPr/>
                    <a:lstStyle/>
                    <a:p>
                      <a:r>
                        <a:rPr lang="en-IN" sz="1100" b="1" dirty="0"/>
                        <a:t>Example</a:t>
                      </a:r>
                    </a:p>
                  </a:txBody>
                  <a:tcPr marL="41067" marR="41067" marT="20534" marB="20534" anchor="ctr"/>
                </a:tc>
                <a:extLst>
                  <a:ext uri="{0D108BD9-81ED-4DB2-BD59-A6C34878D82A}">
                    <a16:rowId xmlns:a16="http://schemas.microsoft.com/office/drawing/2014/main" val="871889144"/>
                  </a:ext>
                </a:extLst>
              </a:tr>
              <a:tr h="336446">
                <a:tc>
                  <a:txBody>
                    <a:bodyPr/>
                    <a:lstStyle/>
                    <a:p>
                      <a:r>
                        <a:rPr lang="en-IN" sz="1050"/>
                        <a:t>Chain of Responsibility</a:t>
                      </a:r>
                    </a:p>
                  </a:txBody>
                  <a:tcPr marL="41067" marR="41067" marT="20534" marB="20534" anchor="ctr"/>
                </a:tc>
                <a:tc>
                  <a:txBody>
                    <a:bodyPr/>
                    <a:lstStyle/>
                    <a:p>
                      <a:r>
                        <a:rPr lang="en-GB" sz="1050"/>
                        <a:t>A way of passing a request between a chain of objects</a:t>
                      </a:r>
                    </a:p>
                  </a:txBody>
                  <a:tcPr marL="41067" marR="41067" marT="20534" marB="20534" anchor="ctr"/>
                </a:tc>
                <a:tc>
                  <a:txBody>
                    <a:bodyPr/>
                    <a:lstStyle/>
                    <a:p>
                      <a:r>
                        <a:rPr lang="en-GB" sz="1050" dirty="0"/>
                        <a:t>A chain of approval for a purchase request</a:t>
                      </a:r>
                    </a:p>
                  </a:txBody>
                  <a:tcPr marL="41067" marR="41067" marT="20534" marB="20534" anchor="ctr"/>
                </a:tc>
                <a:extLst>
                  <a:ext uri="{0D108BD9-81ED-4DB2-BD59-A6C34878D82A}">
                    <a16:rowId xmlns:a16="http://schemas.microsoft.com/office/drawing/2014/main" val="296200750"/>
                  </a:ext>
                </a:extLst>
              </a:tr>
              <a:tr h="336446">
                <a:tc>
                  <a:txBody>
                    <a:bodyPr/>
                    <a:lstStyle/>
                    <a:p>
                      <a:r>
                        <a:rPr lang="en-IN" sz="1050"/>
                        <a:t>Command</a:t>
                      </a:r>
                    </a:p>
                  </a:txBody>
                  <a:tcPr marL="41067" marR="41067" marT="20534" marB="20534" anchor="ctr"/>
                </a:tc>
                <a:tc>
                  <a:txBody>
                    <a:bodyPr/>
                    <a:lstStyle/>
                    <a:p>
                      <a:r>
                        <a:rPr lang="en-GB" sz="1050"/>
                        <a:t>Encapsulate a command request as an object</a:t>
                      </a:r>
                    </a:p>
                  </a:txBody>
                  <a:tcPr marL="41067" marR="41067" marT="20534" marB="20534" anchor="ctr"/>
                </a:tc>
                <a:tc>
                  <a:txBody>
                    <a:bodyPr/>
                    <a:lstStyle/>
                    <a:p>
                      <a:r>
                        <a:rPr lang="en-IN" sz="1050"/>
                        <a:t>Undo/redo functionality in a text editor</a:t>
                      </a:r>
                    </a:p>
                  </a:txBody>
                  <a:tcPr marL="41067" marR="41067" marT="20534" marB="20534" anchor="ctr"/>
                </a:tc>
                <a:extLst>
                  <a:ext uri="{0D108BD9-81ED-4DB2-BD59-A6C34878D82A}">
                    <a16:rowId xmlns:a16="http://schemas.microsoft.com/office/drawing/2014/main" val="986626410"/>
                  </a:ext>
                </a:extLst>
              </a:tr>
              <a:tr h="336446">
                <a:tc>
                  <a:txBody>
                    <a:bodyPr/>
                    <a:lstStyle/>
                    <a:p>
                      <a:r>
                        <a:rPr lang="en-IN" sz="1050"/>
                        <a:t>Interpreter</a:t>
                      </a:r>
                    </a:p>
                  </a:txBody>
                  <a:tcPr marL="41067" marR="41067" marT="20534" marB="20534" anchor="ctr"/>
                </a:tc>
                <a:tc>
                  <a:txBody>
                    <a:bodyPr/>
                    <a:lstStyle/>
                    <a:p>
                      <a:r>
                        <a:rPr lang="en-GB" sz="1050"/>
                        <a:t>A way to include language elements in a program</a:t>
                      </a:r>
                    </a:p>
                  </a:txBody>
                  <a:tcPr marL="41067" marR="41067" marT="20534" marB="20534" anchor="ctr"/>
                </a:tc>
                <a:tc>
                  <a:txBody>
                    <a:bodyPr/>
                    <a:lstStyle/>
                    <a:p>
                      <a:r>
                        <a:rPr lang="en-IN" sz="1050"/>
                        <a:t>A parser for a simple programming language</a:t>
                      </a:r>
                    </a:p>
                  </a:txBody>
                  <a:tcPr marL="41067" marR="41067" marT="20534" marB="20534" anchor="ctr"/>
                </a:tc>
                <a:extLst>
                  <a:ext uri="{0D108BD9-81ED-4DB2-BD59-A6C34878D82A}">
                    <a16:rowId xmlns:a16="http://schemas.microsoft.com/office/drawing/2014/main" val="1282486091"/>
                  </a:ext>
                </a:extLst>
              </a:tr>
              <a:tr h="336446">
                <a:tc>
                  <a:txBody>
                    <a:bodyPr/>
                    <a:lstStyle/>
                    <a:p>
                      <a:r>
                        <a:rPr lang="en-IN" sz="1050"/>
                        <a:t>Iterator</a:t>
                      </a:r>
                    </a:p>
                  </a:txBody>
                  <a:tcPr marL="41067" marR="41067" marT="20534" marB="20534" anchor="ctr"/>
                </a:tc>
                <a:tc>
                  <a:txBody>
                    <a:bodyPr/>
                    <a:lstStyle/>
                    <a:p>
                      <a:r>
                        <a:rPr lang="en-GB" sz="1050"/>
                        <a:t>Sequentially access the elements of a collection</a:t>
                      </a:r>
                    </a:p>
                  </a:txBody>
                  <a:tcPr marL="41067" marR="41067" marT="20534" marB="20534" anchor="ctr"/>
                </a:tc>
                <a:tc>
                  <a:txBody>
                    <a:bodyPr/>
                    <a:lstStyle/>
                    <a:p>
                      <a:r>
                        <a:rPr lang="en-GB" sz="1050"/>
                        <a:t>Iterating over elements in a list</a:t>
                      </a:r>
                    </a:p>
                  </a:txBody>
                  <a:tcPr marL="41067" marR="41067" marT="20534" marB="20534" anchor="ctr"/>
                </a:tc>
                <a:extLst>
                  <a:ext uri="{0D108BD9-81ED-4DB2-BD59-A6C34878D82A}">
                    <a16:rowId xmlns:a16="http://schemas.microsoft.com/office/drawing/2014/main" val="1135983293"/>
                  </a:ext>
                </a:extLst>
              </a:tr>
              <a:tr h="480637">
                <a:tc>
                  <a:txBody>
                    <a:bodyPr/>
                    <a:lstStyle/>
                    <a:p>
                      <a:r>
                        <a:rPr lang="en-IN" sz="1050"/>
                        <a:t>Mediator</a:t>
                      </a:r>
                    </a:p>
                  </a:txBody>
                  <a:tcPr marL="41067" marR="41067" marT="20534" marB="20534" anchor="ctr"/>
                </a:tc>
                <a:tc>
                  <a:txBody>
                    <a:bodyPr/>
                    <a:lstStyle/>
                    <a:p>
                      <a:r>
                        <a:rPr lang="en-GB" sz="1050"/>
                        <a:t>Defines simplified communication between classes</a:t>
                      </a:r>
                    </a:p>
                  </a:txBody>
                  <a:tcPr marL="41067" marR="41067" marT="20534" marB="20534" anchor="ctr"/>
                </a:tc>
                <a:tc>
                  <a:txBody>
                    <a:bodyPr/>
                    <a:lstStyle/>
                    <a:p>
                      <a:r>
                        <a:rPr lang="en-GB" sz="1050"/>
                        <a:t>A mediator for communication between different UI components</a:t>
                      </a:r>
                    </a:p>
                  </a:txBody>
                  <a:tcPr marL="41067" marR="41067" marT="20534" marB="20534" anchor="ctr"/>
                </a:tc>
                <a:extLst>
                  <a:ext uri="{0D108BD9-81ED-4DB2-BD59-A6C34878D82A}">
                    <a16:rowId xmlns:a16="http://schemas.microsoft.com/office/drawing/2014/main" val="952560942"/>
                  </a:ext>
                </a:extLst>
              </a:tr>
              <a:tr h="336446">
                <a:tc>
                  <a:txBody>
                    <a:bodyPr/>
                    <a:lstStyle/>
                    <a:p>
                      <a:r>
                        <a:rPr lang="en-IN" sz="1050"/>
                        <a:t>Memento</a:t>
                      </a:r>
                    </a:p>
                  </a:txBody>
                  <a:tcPr marL="41067" marR="41067" marT="20534" marB="20534" anchor="ctr"/>
                </a:tc>
                <a:tc>
                  <a:txBody>
                    <a:bodyPr/>
                    <a:lstStyle/>
                    <a:p>
                      <a:r>
                        <a:rPr lang="en-GB" sz="1050"/>
                        <a:t>Capture and restore an object's internal state</a:t>
                      </a:r>
                    </a:p>
                  </a:txBody>
                  <a:tcPr marL="41067" marR="41067" marT="20534" marB="20534" anchor="ctr"/>
                </a:tc>
                <a:tc>
                  <a:txBody>
                    <a:bodyPr/>
                    <a:lstStyle/>
                    <a:p>
                      <a:r>
                        <a:rPr lang="en-GB" sz="1050"/>
                        <a:t>Saving a game state in a video game</a:t>
                      </a:r>
                    </a:p>
                  </a:txBody>
                  <a:tcPr marL="41067" marR="41067" marT="20534" marB="20534" anchor="ctr"/>
                </a:tc>
                <a:extLst>
                  <a:ext uri="{0D108BD9-81ED-4DB2-BD59-A6C34878D82A}">
                    <a16:rowId xmlns:a16="http://schemas.microsoft.com/office/drawing/2014/main" val="1117163073"/>
                  </a:ext>
                </a:extLst>
              </a:tr>
              <a:tr h="336446">
                <a:tc>
                  <a:txBody>
                    <a:bodyPr/>
                    <a:lstStyle/>
                    <a:p>
                      <a:r>
                        <a:rPr lang="en-IN" sz="1050"/>
                        <a:t>Observer</a:t>
                      </a:r>
                    </a:p>
                  </a:txBody>
                  <a:tcPr marL="41067" marR="41067" marT="20534" marB="20534" anchor="ctr"/>
                </a:tc>
                <a:tc>
                  <a:txBody>
                    <a:bodyPr/>
                    <a:lstStyle/>
                    <a:p>
                      <a:r>
                        <a:rPr lang="en-GB" sz="1050"/>
                        <a:t>A way of notifying change to a number of classes</a:t>
                      </a:r>
                    </a:p>
                  </a:txBody>
                  <a:tcPr marL="41067" marR="41067" marT="20534" marB="20534" anchor="ctr"/>
                </a:tc>
                <a:tc>
                  <a:txBody>
                    <a:bodyPr/>
                    <a:lstStyle/>
                    <a:p>
                      <a:r>
                        <a:rPr lang="en-GB" sz="1050"/>
                        <a:t>A subject notifying observers when its state changes</a:t>
                      </a:r>
                    </a:p>
                  </a:txBody>
                  <a:tcPr marL="41067" marR="41067" marT="20534" marB="20534" anchor="ctr"/>
                </a:tc>
                <a:extLst>
                  <a:ext uri="{0D108BD9-81ED-4DB2-BD59-A6C34878D82A}">
                    <a16:rowId xmlns:a16="http://schemas.microsoft.com/office/drawing/2014/main" val="872407849"/>
                  </a:ext>
                </a:extLst>
              </a:tr>
              <a:tr h="336446">
                <a:tc>
                  <a:txBody>
                    <a:bodyPr/>
                    <a:lstStyle/>
                    <a:p>
                      <a:r>
                        <a:rPr lang="en-IN" sz="1050"/>
                        <a:t>State</a:t>
                      </a:r>
                    </a:p>
                  </a:txBody>
                  <a:tcPr marL="41067" marR="41067" marT="20534" marB="20534" anchor="ctr"/>
                </a:tc>
                <a:tc>
                  <a:txBody>
                    <a:bodyPr/>
                    <a:lstStyle/>
                    <a:p>
                      <a:r>
                        <a:rPr lang="en-GB" sz="1050"/>
                        <a:t>Alter an object's behavior when its state changes</a:t>
                      </a:r>
                    </a:p>
                  </a:txBody>
                  <a:tcPr marL="41067" marR="41067" marT="20534" marB="20534" anchor="ctr"/>
                </a:tc>
                <a:tc>
                  <a:txBody>
                    <a:bodyPr/>
                    <a:lstStyle/>
                    <a:p>
                      <a:r>
                        <a:rPr lang="en-GB" sz="1050"/>
                        <a:t>A traffic light changing its state (red, yellow, green)</a:t>
                      </a:r>
                    </a:p>
                  </a:txBody>
                  <a:tcPr marL="41067" marR="41067" marT="20534" marB="20534" anchor="ctr"/>
                </a:tc>
                <a:extLst>
                  <a:ext uri="{0D108BD9-81ED-4DB2-BD59-A6C34878D82A}">
                    <a16:rowId xmlns:a16="http://schemas.microsoft.com/office/drawing/2014/main" val="961625722"/>
                  </a:ext>
                </a:extLst>
              </a:tr>
              <a:tr h="336446">
                <a:tc>
                  <a:txBody>
                    <a:bodyPr/>
                    <a:lstStyle/>
                    <a:p>
                      <a:r>
                        <a:rPr lang="en-IN" sz="1050"/>
                        <a:t>Strategy</a:t>
                      </a:r>
                    </a:p>
                  </a:txBody>
                  <a:tcPr marL="41067" marR="41067" marT="20534" marB="20534" anchor="ctr"/>
                </a:tc>
                <a:tc>
                  <a:txBody>
                    <a:bodyPr/>
                    <a:lstStyle/>
                    <a:p>
                      <a:r>
                        <a:rPr lang="en-IN" sz="1050"/>
                        <a:t>Encapsulates an algorithm inside a class</a:t>
                      </a:r>
                    </a:p>
                  </a:txBody>
                  <a:tcPr marL="41067" marR="41067" marT="20534" marB="20534" anchor="ctr"/>
                </a:tc>
                <a:tc>
                  <a:txBody>
                    <a:bodyPr/>
                    <a:lstStyle/>
                    <a:p>
                      <a:r>
                        <a:rPr lang="en-IN" sz="1050"/>
                        <a:t>Different sorting algorithms for a list</a:t>
                      </a:r>
                    </a:p>
                  </a:txBody>
                  <a:tcPr marL="41067" marR="41067" marT="20534" marB="20534" anchor="ctr"/>
                </a:tc>
                <a:extLst>
                  <a:ext uri="{0D108BD9-81ED-4DB2-BD59-A6C34878D82A}">
                    <a16:rowId xmlns:a16="http://schemas.microsoft.com/office/drawing/2014/main" val="1095945308"/>
                  </a:ext>
                </a:extLst>
              </a:tr>
              <a:tr h="336446">
                <a:tc>
                  <a:txBody>
                    <a:bodyPr/>
                    <a:lstStyle/>
                    <a:p>
                      <a:r>
                        <a:rPr lang="en-IN" sz="1050"/>
                        <a:t>Template Method</a:t>
                      </a:r>
                    </a:p>
                  </a:txBody>
                  <a:tcPr marL="41067" marR="41067" marT="20534" marB="20534" anchor="ctr"/>
                </a:tc>
                <a:tc>
                  <a:txBody>
                    <a:bodyPr/>
                    <a:lstStyle/>
                    <a:p>
                      <a:r>
                        <a:rPr lang="en-GB" sz="1050"/>
                        <a:t>Defer the exact steps of an algorithm to a subclass</a:t>
                      </a:r>
                    </a:p>
                  </a:txBody>
                  <a:tcPr marL="41067" marR="41067" marT="20534" marB="20534" anchor="ctr"/>
                </a:tc>
                <a:tc>
                  <a:txBody>
                    <a:bodyPr/>
                    <a:lstStyle/>
                    <a:p>
                      <a:r>
                        <a:rPr lang="en-IN" sz="1050"/>
                        <a:t>A template for a report generation process</a:t>
                      </a:r>
                    </a:p>
                  </a:txBody>
                  <a:tcPr marL="41067" marR="41067" marT="20534" marB="20534" anchor="ctr"/>
                </a:tc>
                <a:extLst>
                  <a:ext uri="{0D108BD9-81ED-4DB2-BD59-A6C34878D82A}">
                    <a16:rowId xmlns:a16="http://schemas.microsoft.com/office/drawing/2014/main" val="2398772995"/>
                  </a:ext>
                </a:extLst>
              </a:tr>
              <a:tr h="336446">
                <a:tc>
                  <a:txBody>
                    <a:bodyPr/>
                    <a:lstStyle/>
                    <a:p>
                      <a:r>
                        <a:rPr lang="en-IN" sz="1050"/>
                        <a:t>Visitor</a:t>
                      </a:r>
                    </a:p>
                  </a:txBody>
                  <a:tcPr marL="41067" marR="41067" marT="20534" marB="20534" anchor="ctr"/>
                </a:tc>
                <a:tc>
                  <a:txBody>
                    <a:bodyPr/>
                    <a:lstStyle/>
                    <a:p>
                      <a:r>
                        <a:rPr lang="en-GB" sz="1050"/>
                        <a:t>Defines a new operation to a class without change</a:t>
                      </a:r>
                    </a:p>
                  </a:txBody>
                  <a:tcPr marL="41067" marR="41067" marT="20534" marB="20534" anchor="ctr"/>
                </a:tc>
                <a:tc>
                  <a:txBody>
                    <a:bodyPr/>
                    <a:lstStyle/>
                    <a:p>
                      <a:r>
                        <a:rPr lang="en-GB" sz="1050" dirty="0"/>
                        <a:t>A visitor to calculate the total area of different shapes</a:t>
                      </a:r>
                    </a:p>
                  </a:txBody>
                  <a:tcPr marL="41067" marR="41067" marT="20534" marB="20534" anchor="ctr"/>
                </a:tc>
                <a:extLst>
                  <a:ext uri="{0D108BD9-81ED-4DB2-BD59-A6C34878D82A}">
                    <a16:rowId xmlns:a16="http://schemas.microsoft.com/office/drawing/2014/main" val="2441836676"/>
                  </a:ext>
                </a:extLst>
              </a:tr>
            </a:tbl>
          </a:graphicData>
        </a:graphic>
      </p:graphicFrame>
    </p:spTree>
    <p:extLst>
      <p:ext uri="{BB962C8B-B14F-4D97-AF65-F5344CB8AC3E}">
        <p14:creationId xmlns:p14="http://schemas.microsoft.com/office/powerpoint/2010/main" val="24029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76F6-874A-73C2-F36F-47E51ACE1E88}"/>
              </a:ext>
            </a:extLst>
          </p:cNvPr>
          <p:cNvSpPr>
            <a:spLocks noGrp="1"/>
          </p:cNvSpPr>
          <p:nvPr>
            <p:ph type="title"/>
          </p:nvPr>
        </p:nvSpPr>
        <p:spPr/>
        <p:txBody>
          <a:bodyPr/>
          <a:lstStyle/>
          <a:p>
            <a:r>
              <a:rPr lang="en-GB" dirty="0"/>
              <a:t>Creational: Singleton</a:t>
            </a:r>
            <a:endParaRPr lang="en-IN" dirty="0"/>
          </a:p>
        </p:txBody>
      </p:sp>
      <p:sp>
        <p:nvSpPr>
          <p:cNvPr id="3" name="Content Placeholder 2">
            <a:extLst>
              <a:ext uri="{FF2B5EF4-FFF2-40B4-BE49-F238E27FC236}">
                <a16:creationId xmlns:a16="http://schemas.microsoft.com/office/drawing/2014/main" id="{BA9C06E1-DE69-9CD1-77C5-88D41BB19772}"/>
              </a:ext>
            </a:extLst>
          </p:cNvPr>
          <p:cNvSpPr>
            <a:spLocks noGrp="1"/>
          </p:cNvSpPr>
          <p:nvPr>
            <p:ph idx="1"/>
          </p:nvPr>
        </p:nvSpPr>
        <p:spPr/>
        <p:txBody>
          <a:bodyPr/>
          <a:lstStyle/>
          <a:p>
            <a:pPr marL="0" indent="0">
              <a:buNone/>
            </a:pPr>
            <a:r>
              <a:rPr lang="en-GB" b="1" dirty="0"/>
              <a:t>Singleton Pattern</a:t>
            </a:r>
          </a:p>
          <a:p>
            <a:r>
              <a:rPr lang="en-GB" b="1" dirty="0"/>
              <a:t>Purpose:</a:t>
            </a:r>
            <a:r>
              <a:rPr lang="en-GB" dirty="0"/>
              <a:t> The Singleton Pattern ensures that a class has only one instance and provides a global point of access to that instance. This pattern is used when exactly one instance of a class is needed to coordinate actions across the system.</a:t>
            </a:r>
          </a:p>
          <a:p>
            <a:r>
              <a:rPr lang="en-GB" b="1" dirty="0"/>
              <a:t>Analogy:</a:t>
            </a:r>
            <a:r>
              <a:rPr lang="en-GB" dirty="0"/>
              <a:t> Think of a president of a country. There can only be one president at a time, and everyone in the country needs to access that single president for decisions and coordination. The president's role and access are unique, just as the Singleton pattern ensures that there is only one instance of a class.</a:t>
            </a:r>
          </a:p>
          <a:p>
            <a:endParaRPr lang="en-IN" dirty="0"/>
          </a:p>
        </p:txBody>
      </p:sp>
    </p:spTree>
    <p:extLst>
      <p:ext uri="{BB962C8B-B14F-4D97-AF65-F5344CB8AC3E}">
        <p14:creationId xmlns:p14="http://schemas.microsoft.com/office/powerpoint/2010/main" val="1095412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76F6-874A-73C2-F36F-47E51ACE1E88}"/>
              </a:ext>
            </a:extLst>
          </p:cNvPr>
          <p:cNvSpPr>
            <a:spLocks noGrp="1"/>
          </p:cNvSpPr>
          <p:nvPr>
            <p:ph type="title"/>
          </p:nvPr>
        </p:nvSpPr>
        <p:spPr/>
        <p:txBody>
          <a:bodyPr/>
          <a:lstStyle/>
          <a:p>
            <a:r>
              <a:rPr lang="en-GB" dirty="0"/>
              <a:t>Creational: Factory</a:t>
            </a:r>
            <a:endParaRPr lang="en-IN" dirty="0"/>
          </a:p>
        </p:txBody>
      </p:sp>
      <p:sp>
        <p:nvSpPr>
          <p:cNvPr id="3" name="Content Placeholder 2">
            <a:extLst>
              <a:ext uri="{FF2B5EF4-FFF2-40B4-BE49-F238E27FC236}">
                <a16:creationId xmlns:a16="http://schemas.microsoft.com/office/drawing/2014/main" id="{BA9C06E1-DE69-9CD1-77C5-88D41BB19772}"/>
              </a:ext>
            </a:extLst>
          </p:cNvPr>
          <p:cNvSpPr>
            <a:spLocks noGrp="1"/>
          </p:cNvSpPr>
          <p:nvPr>
            <p:ph idx="1"/>
          </p:nvPr>
        </p:nvSpPr>
        <p:spPr/>
        <p:txBody>
          <a:bodyPr>
            <a:normAutofit fontScale="92500" lnSpcReduction="20000"/>
          </a:bodyPr>
          <a:lstStyle/>
          <a:p>
            <a:pPr marL="0" indent="0">
              <a:buNone/>
            </a:pPr>
            <a:r>
              <a:rPr lang="en-GB" b="1" dirty="0"/>
              <a:t>Factory Method Pattern</a:t>
            </a:r>
          </a:p>
          <a:p>
            <a:r>
              <a:rPr lang="en-GB" b="1" dirty="0"/>
              <a:t>Purpose:</a:t>
            </a:r>
            <a:r>
              <a:rPr lang="en-GB" dirty="0"/>
              <a:t> The Factory Method Pattern defines an interface for creating objects but allows subclasses to alter the type of objects that will be created. This pattern is used to delegate the instantiation logic to child classes, allowing the code to be more flexible and reusable.</a:t>
            </a:r>
          </a:p>
          <a:p>
            <a:r>
              <a:rPr lang="en-GB" b="1" dirty="0"/>
              <a:t>Analogy:</a:t>
            </a:r>
            <a:r>
              <a:rPr lang="en-GB" dirty="0"/>
              <a:t> Imagine a bakery that offers a variety of baked goods. Instead of a single person (or method) baking all kinds of pastries, there are different bakers specialized in creating different items (e.g., cakes, breads, pastries). Each baker (factory) creates a specific type of product, and the bakery (client) can get different types of baked goods without knowing the details of how each type is made.</a:t>
            </a:r>
          </a:p>
          <a:p>
            <a:endParaRPr lang="en-IN" dirty="0"/>
          </a:p>
        </p:txBody>
      </p:sp>
    </p:spTree>
    <p:extLst>
      <p:ext uri="{BB962C8B-B14F-4D97-AF65-F5344CB8AC3E}">
        <p14:creationId xmlns:p14="http://schemas.microsoft.com/office/powerpoint/2010/main" val="2329592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76F6-874A-73C2-F36F-47E51ACE1E88}"/>
              </a:ext>
            </a:extLst>
          </p:cNvPr>
          <p:cNvSpPr>
            <a:spLocks noGrp="1"/>
          </p:cNvSpPr>
          <p:nvPr>
            <p:ph type="title"/>
          </p:nvPr>
        </p:nvSpPr>
        <p:spPr/>
        <p:txBody>
          <a:bodyPr/>
          <a:lstStyle/>
          <a:p>
            <a:r>
              <a:rPr lang="en-GB" dirty="0"/>
              <a:t>Creational: Abstract Factory</a:t>
            </a:r>
            <a:endParaRPr lang="en-IN" dirty="0"/>
          </a:p>
        </p:txBody>
      </p:sp>
      <p:sp>
        <p:nvSpPr>
          <p:cNvPr id="3" name="Content Placeholder 2">
            <a:extLst>
              <a:ext uri="{FF2B5EF4-FFF2-40B4-BE49-F238E27FC236}">
                <a16:creationId xmlns:a16="http://schemas.microsoft.com/office/drawing/2014/main" id="{BA9C06E1-DE69-9CD1-77C5-88D41BB19772}"/>
              </a:ext>
            </a:extLst>
          </p:cNvPr>
          <p:cNvSpPr>
            <a:spLocks noGrp="1"/>
          </p:cNvSpPr>
          <p:nvPr>
            <p:ph idx="1"/>
          </p:nvPr>
        </p:nvSpPr>
        <p:spPr/>
        <p:txBody>
          <a:bodyPr>
            <a:normAutofit fontScale="85000" lnSpcReduction="20000"/>
          </a:bodyPr>
          <a:lstStyle/>
          <a:p>
            <a:pPr marL="0" indent="0">
              <a:buNone/>
            </a:pPr>
            <a:r>
              <a:rPr lang="en-GB" b="1" dirty="0"/>
              <a:t>Abstract Factory Pattern</a:t>
            </a:r>
          </a:p>
          <a:p>
            <a:r>
              <a:rPr lang="en-GB" b="1" dirty="0"/>
              <a:t>Purpose:</a:t>
            </a:r>
            <a:r>
              <a:rPr lang="en-GB" dirty="0"/>
              <a:t> The Abstract Factory Pattern provides an interface for creating families of related or dependent objects without specifying their concrete classes. It is used when a system needs to create multiple products that belong to a family of related products, ensuring that the products are compatible with each other.</a:t>
            </a:r>
          </a:p>
          <a:p>
            <a:r>
              <a:rPr lang="en-GB" b="1" dirty="0"/>
              <a:t>Analogy:</a:t>
            </a:r>
            <a:r>
              <a:rPr lang="en-GB" dirty="0"/>
              <a:t> Consider a furniture store that sells different styles of furniture, such as modern or classic. Instead of having a single factory that produces all types of furniture, you have different factories for each style (e.g., </a:t>
            </a:r>
            <a:r>
              <a:rPr lang="en-GB" dirty="0" err="1"/>
              <a:t>ModernFurnitureFactory</a:t>
            </a:r>
            <a:r>
              <a:rPr lang="en-GB" dirty="0"/>
              <a:t>, </a:t>
            </a:r>
            <a:r>
              <a:rPr lang="en-GB" dirty="0" err="1"/>
              <a:t>ClassicFurnitureFactory</a:t>
            </a:r>
            <a:r>
              <a:rPr lang="en-GB" dirty="0"/>
              <a:t>). Each factory produces a set of related products (e.g., chairs, tables, sofas) that fit within that style. The store can offer a complete set of matching furniture without worrying about how each piece is made.</a:t>
            </a:r>
          </a:p>
          <a:p>
            <a:endParaRPr lang="en-IN" dirty="0"/>
          </a:p>
        </p:txBody>
      </p:sp>
    </p:spTree>
    <p:extLst>
      <p:ext uri="{BB962C8B-B14F-4D97-AF65-F5344CB8AC3E}">
        <p14:creationId xmlns:p14="http://schemas.microsoft.com/office/powerpoint/2010/main" val="4109671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1B4E-FBA4-9BC5-A26B-55C026631028}"/>
              </a:ext>
            </a:extLst>
          </p:cNvPr>
          <p:cNvSpPr>
            <a:spLocks noGrp="1"/>
          </p:cNvSpPr>
          <p:nvPr>
            <p:ph type="title"/>
          </p:nvPr>
        </p:nvSpPr>
        <p:spPr/>
        <p:txBody>
          <a:bodyPr/>
          <a:lstStyle/>
          <a:p>
            <a:r>
              <a:rPr lang="en-GB" dirty="0"/>
              <a:t>Summary</a:t>
            </a:r>
            <a:endParaRPr lang="en-IN" dirty="0"/>
          </a:p>
        </p:txBody>
      </p:sp>
      <p:sp>
        <p:nvSpPr>
          <p:cNvPr id="4" name="Rectangle 1">
            <a:extLst>
              <a:ext uri="{FF2B5EF4-FFF2-40B4-BE49-F238E27FC236}">
                <a16:creationId xmlns:a16="http://schemas.microsoft.com/office/drawing/2014/main" id="{D354F455-4237-7B3B-2AF3-A22A2A935B7B}"/>
              </a:ext>
            </a:extLst>
          </p:cNvPr>
          <p:cNvSpPr>
            <a:spLocks noGrp="1" noChangeArrowheads="1"/>
          </p:cNvSpPr>
          <p:nvPr>
            <p:ph idx="1"/>
          </p:nvPr>
        </p:nvSpPr>
        <p:spPr bwMode="auto">
          <a:xfrm>
            <a:off x="1534696" y="2309878"/>
            <a:ext cx="988467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Singleton Pattern:</a:t>
            </a:r>
            <a:r>
              <a:rPr kumimoji="0" lang="en-US" altLang="en-US" sz="1800" b="0" i="0" u="none" strike="noStrike" cap="none" normalizeH="0" baseline="0" dirty="0">
                <a:ln>
                  <a:noFill/>
                </a:ln>
                <a:solidFill>
                  <a:schemeClr val="tx1"/>
                </a:solidFill>
                <a:effectLst/>
                <a:latin typeface="Arial" panose="020B0604020202020204" pitchFamily="34" charset="0"/>
              </a:rPr>
              <a:t> Ensures a class has only one instance and provides a global point of access.</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Analogy:</a:t>
            </a:r>
            <a:r>
              <a:rPr kumimoji="0" lang="en-US" altLang="en-US" sz="1800" b="0" i="0" u="none" strike="noStrike" cap="none" normalizeH="0" baseline="0" dirty="0">
                <a:ln>
                  <a:noFill/>
                </a:ln>
                <a:solidFill>
                  <a:schemeClr val="tx1"/>
                </a:solidFill>
                <a:effectLst/>
                <a:latin typeface="Arial" panose="020B0604020202020204" pitchFamily="34" charset="0"/>
              </a:rPr>
              <a:t> A country’s president, who represents the sole leader with global access.</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Factory Method Pattern:</a:t>
            </a:r>
            <a:r>
              <a:rPr kumimoji="0" lang="en-US" altLang="en-US" sz="1800" b="0" i="0" u="none" strike="noStrike" cap="none" normalizeH="0" baseline="0" dirty="0">
                <a:ln>
                  <a:noFill/>
                </a:ln>
                <a:solidFill>
                  <a:schemeClr val="tx1"/>
                </a:solidFill>
                <a:effectLst/>
                <a:latin typeface="Arial" panose="020B0604020202020204" pitchFamily="34" charset="0"/>
              </a:rPr>
              <a:t> Allows subclasses to decide which class to instantiate, providing a way to delegate the instantiation logic.</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Analogy:</a:t>
            </a:r>
            <a:r>
              <a:rPr kumimoji="0" lang="en-US" altLang="en-US" sz="1800" b="0" i="0" u="none" strike="noStrike" cap="none" normalizeH="0" baseline="0" dirty="0">
                <a:ln>
                  <a:noFill/>
                </a:ln>
                <a:solidFill>
                  <a:schemeClr val="tx1"/>
                </a:solidFill>
                <a:effectLst/>
                <a:latin typeface="Arial" panose="020B0604020202020204" pitchFamily="34" charset="0"/>
              </a:rPr>
              <a:t> Different bakers in a bakery, each specializing in a type of baked good.</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Abstract Factory Pattern:</a:t>
            </a:r>
            <a:r>
              <a:rPr kumimoji="0" lang="en-US" altLang="en-US" sz="1800" b="0" i="0" u="none" strike="noStrike" cap="none" normalizeH="0" baseline="0" dirty="0">
                <a:ln>
                  <a:noFill/>
                </a:ln>
                <a:solidFill>
                  <a:schemeClr val="tx1"/>
                </a:solidFill>
                <a:effectLst/>
                <a:latin typeface="Arial" panose="020B0604020202020204" pitchFamily="34" charset="0"/>
              </a:rPr>
              <a:t> Creates families of related objects without specifying their concrete classes, ensuring compatibility among the products.</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Analogy:</a:t>
            </a:r>
            <a:r>
              <a:rPr kumimoji="0" lang="en-US" altLang="en-US" sz="1800" b="0" i="0" u="none" strike="noStrike" cap="none" normalizeH="0" baseline="0" dirty="0">
                <a:ln>
                  <a:noFill/>
                </a:ln>
                <a:solidFill>
                  <a:schemeClr val="tx1"/>
                </a:solidFill>
                <a:effectLst/>
                <a:latin typeface="Arial" panose="020B0604020202020204" pitchFamily="34" charset="0"/>
              </a:rPr>
              <a:t> Furniture store with multiple factories producing related furniture styles.</a:t>
            </a:r>
          </a:p>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9784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B6BE-FE1F-BBAD-B060-B6FEF5A35DEF}"/>
              </a:ext>
            </a:extLst>
          </p:cNvPr>
          <p:cNvSpPr>
            <a:spLocks noGrp="1"/>
          </p:cNvSpPr>
          <p:nvPr>
            <p:ph type="title"/>
          </p:nvPr>
        </p:nvSpPr>
        <p:spPr/>
        <p:txBody>
          <a:bodyPr/>
          <a:lstStyle/>
          <a:p>
            <a:r>
              <a:rPr lang="en-GB" dirty="0"/>
              <a:t>Structural</a:t>
            </a:r>
            <a:endParaRPr lang="en-IN" dirty="0"/>
          </a:p>
        </p:txBody>
      </p:sp>
      <p:sp>
        <p:nvSpPr>
          <p:cNvPr id="3" name="Content Placeholder 2">
            <a:extLst>
              <a:ext uri="{FF2B5EF4-FFF2-40B4-BE49-F238E27FC236}">
                <a16:creationId xmlns:a16="http://schemas.microsoft.com/office/drawing/2014/main" id="{B3A8AB95-4412-5A10-C275-284E477A196F}"/>
              </a:ext>
            </a:extLst>
          </p:cNvPr>
          <p:cNvSpPr>
            <a:spLocks noGrp="1"/>
          </p:cNvSpPr>
          <p:nvPr>
            <p:ph idx="1"/>
          </p:nvPr>
        </p:nvSpPr>
        <p:spPr/>
        <p:txBody>
          <a:bodyPr>
            <a:normAutofit/>
          </a:bodyPr>
          <a:lstStyle/>
          <a:p>
            <a:pPr marL="0" indent="0">
              <a:buNone/>
            </a:pPr>
            <a:r>
              <a:rPr lang="en-GB" b="1" dirty="0"/>
              <a:t>Adapter Pattern</a:t>
            </a:r>
          </a:p>
          <a:p>
            <a:r>
              <a:rPr lang="en-GB" dirty="0"/>
              <a:t>Purpose: The Adapter Pattern allows two incompatible interfaces to work together. It acts as a bridge between two incompatible interfaces, enabling objects that couldn’t normally interact due to incompatible interfaces to do so.</a:t>
            </a:r>
          </a:p>
          <a:p>
            <a:r>
              <a:rPr lang="en-GB" dirty="0"/>
              <a:t>Analogy: Think of it like a power adapter that allows you to plug a device from one country (with a different plug shape) into a socket in another country.</a:t>
            </a:r>
          </a:p>
          <a:p>
            <a:endParaRPr lang="en-GB" dirty="0"/>
          </a:p>
        </p:txBody>
      </p:sp>
    </p:spTree>
    <p:extLst>
      <p:ext uri="{BB962C8B-B14F-4D97-AF65-F5344CB8AC3E}">
        <p14:creationId xmlns:p14="http://schemas.microsoft.com/office/powerpoint/2010/main" val="335714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D3F6-A223-4F94-1901-AE88505B3100}"/>
              </a:ext>
            </a:extLst>
          </p:cNvPr>
          <p:cNvSpPr>
            <a:spLocks noGrp="1"/>
          </p:cNvSpPr>
          <p:nvPr>
            <p:ph type="title"/>
          </p:nvPr>
        </p:nvSpPr>
        <p:spPr/>
        <p:txBody>
          <a:bodyPr/>
          <a:lstStyle/>
          <a:p>
            <a:r>
              <a:rPr lang="en-GB" dirty="0"/>
              <a:t>Structural</a:t>
            </a:r>
            <a:endParaRPr lang="en-IN" dirty="0"/>
          </a:p>
        </p:txBody>
      </p:sp>
      <p:sp>
        <p:nvSpPr>
          <p:cNvPr id="3" name="Content Placeholder 2">
            <a:extLst>
              <a:ext uri="{FF2B5EF4-FFF2-40B4-BE49-F238E27FC236}">
                <a16:creationId xmlns:a16="http://schemas.microsoft.com/office/drawing/2014/main" id="{E4CE399A-BDE7-EEF0-8C6F-7C8EDF9F1094}"/>
              </a:ext>
            </a:extLst>
          </p:cNvPr>
          <p:cNvSpPr>
            <a:spLocks noGrp="1"/>
          </p:cNvSpPr>
          <p:nvPr>
            <p:ph idx="1"/>
          </p:nvPr>
        </p:nvSpPr>
        <p:spPr/>
        <p:txBody>
          <a:bodyPr/>
          <a:lstStyle/>
          <a:p>
            <a:pPr marL="0" indent="0">
              <a:lnSpc>
                <a:spcPct val="107000"/>
              </a:lnSpc>
              <a:spcAft>
                <a:spcPts val="800"/>
              </a:spcAft>
              <a:buNone/>
            </a:pPr>
            <a:r>
              <a:rPr lang="en-IN" sz="1800" b="1" dirty="0">
                <a:effectLst/>
                <a:latin typeface="Aptos" panose="020B0004020202020204" pitchFamily="34" charset="0"/>
                <a:ea typeface="Aptos" panose="020B0004020202020204" pitchFamily="34" charset="0"/>
                <a:cs typeface="Times New Roman" panose="02020603050405020304" pitchFamily="18" charset="0"/>
              </a:rPr>
              <a:t>Decorator Pattern </a:t>
            </a:r>
          </a:p>
          <a:p>
            <a:pPr>
              <a:lnSpc>
                <a:spcPct val="107000"/>
              </a:lnSpc>
              <a:spcAft>
                <a:spcPts val="800"/>
              </a:spcAft>
            </a:pPr>
            <a:r>
              <a:rPr lang="en-IN" sz="1800" dirty="0">
                <a:effectLst/>
                <a:latin typeface="Aptos" panose="020B0004020202020204" pitchFamily="34" charset="0"/>
                <a:ea typeface="Aptos" panose="020B0004020202020204" pitchFamily="34" charset="0"/>
                <a:cs typeface="Times New Roman" panose="02020603050405020304" pitchFamily="18" charset="0"/>
              </a:rPr>
              <a:t>Purpose:  The Decorator Pattern allows </a:t>
            </a:r>
            <a:r>
              <a:rPr lang="en-IN" sz="18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800" dirty="0">
                <a:effectLst/>
                <a:latin typeface="Aptos" panose="020B0004020202020204" pitchFamily="34" charset="0"/>
                <a:ea typeface="Aptos" panose="020B0004020202020204" pitchFamily="34" charset="0"/>
                <a:cs typeface="Times New Roman" panose="02020603050405020304" pitchFamily="18" charset="0"/>
              </a:rPr>
              <a:t> to be added to individual objects, either statically or dynamically, without affecting the </a:t>
            </a:r>
            <a:r>
              <a:rPr lang="en-IN" sz="18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800" dirty="0">
                <a:effectLst/>
                <a:latin typeface="Aptos" panose="020B0004020202020204" pitchFamily="34" charset="0"/>
                <a:ea typeface="Aptos" panose="020B0004020202020204" pitchFamily="34" charset="0"/>
                <a:cs typeface="Times New Roman" panose="02020603050405020304" pitchFamily="18" charset="0"/>
              </a:rPr>
              <a:t> of other objects from the same class. It’s a way to extend functionality by wrapping an object in a decorator class.</a:t>
            </a:r>
          </a:p>
          <a:p>
            <a:pPr>
              <a:lnSpc>
                <a:spcPct val="107000"/>
              </a:lnSpc>
              <a:spcAft>
                <a:spcPts val="800"/>
              </a:spcAft>
            </a:pPr>
            <a:r>
              <a:rPr lang="en-IN" sz="1800" dirty="0">
                <a:effectLst/>
                <a:latin typeface="Aptos" panose="020B0004020202020204" pitchFamily="34" charset="0"/>
                <a:ea typeface="Aptos" panose="020B0004020202020204" pitchFamily="34" charset="0"/>
                <a:cs typeface="Times New Roman" panose="02020603050405020304" pitchFamily="18" charset="0"/>
              </a:rPr>
              <a:t> Analogy:  Imagine adding layers of clothing. Each layer (decorator) adds something new (warmth, style) to the basic outfit (the object) without altering the outfit itself.</a:t>
            </a:r>
          </a:p>
          <a:p>
            <a:endParaRPr lang="en-IN" dirty="0"/>
          </a:p>
        </p:txBody>
      </p:sp>
    </p:spTree>
    <p:extLst>
      <p:ext uri="{BB962C8B-B14F-4D97-AF65-F5344CB8AC3E}">
        <p14:creationId xmlns:p14="http://schemas.microsoft.com/office/powerpoint/2010/main" val="1412233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FAE0D-DF6B-1253-D4DD-CC4F90D08E35}"/>
              </a:ext>
            </a:extLst>
          </p:cNvPr>
          <p:cNvSpPr>
            <a:spLocks noGrp="1"/>
          </p:cNvSpPr>
          <p:nvPr>
            <p:ph type="title"/>
          </p:nvPr>
        </p:nvSpPr>
        <p:spPr/>
        <p:txBody>
          <a:bodyPr/>
          <a:lstStyle/>
          <a:p>
            <a:r>
              <a:rPr lang="en-GB" dirty="0"/>
              <a:t>Structural</a:t>
            </a:r>
            <a:endParaRPr lang="en-IN" dirty="0"/>
          </a:p>
        </p:txBody>
      </p:sp>
      <p:sp>
        <p:nvSpPr>
          <p:cNvPr id="3" name="Content Placeholder 2">
            <a:extLst>
              <a:ext uri="{FF2B5EF4-FFF2-40B4-BE49-F238E27FC236}">
                <a16:creationId xmlns:a16="http://schemas.microsoft.com/office/drawing/2014/main" id="{1843F7D7-995D-95C8-4614-97DB8F9A61F4}"/>
              </a:ext>
            </a:extLst>
          </p:cNvPr>
          <p:cNvSpPr>
            <a:spLocks noGrp="1"/>
          </p:cNvSpPr>
          <p:nvPr>
            <p:ph idx="1"/>
          </p:nvPr>
        </p:nvSpPr>
        <p:spPr/>
        <p:txBody>
          <a:bodyPr/>
          <a:lstStyle/>
          <a:p>
            <a:pPr marL="0" indent="0">
              <a:lnSpc>
                <a:spcPct val="107000"/>
              </a:lnSpc>
              <a:spcAft>
                <a:spcPts val="800"/>
              </a:spcAft>
              <a:buNone/>
            </a:pPr>
            <a:r>
              <a:rPr lang="en-IN" sz="1800" b="1" dirty="0">
                <a:effectLst/>
                <a:latin typeface="Aptos" panose="020B0004020202020204" pitchFamily="34" charset="0"/>
                <a:ea typeface="Aptos" panose="020B0004020202020204" pitchFamily="34" charset="0"/>
                <a:cs typeface="Times New Roman" panose="02020603050405020304" pitchFamily="18" charset="0"/>
              </a:rPr>
              <a:t>Bridge</a:t>
            </a:r>
          </a:p>
          <a:p>
            <a:pPr>
              <a:lnSpc>
                <a:spcPct val="107000"/>
              </a:lnSpc>
              <a:spcAft>
                <a:spcPts val="800"/>
              </a:spcAft>
            </a:pPr>
            <a:r>
              <a:rPr lang="en-IN" sz="1800" b="1" dirty="0">
                <a:effectLst/>
                <a:latin typeface="Aptos" panose="020B0004020202020204" pitchFamily="34" charset="0"/>
                <a:ea typeface="Aptos" panose="020B0004020202020204" pitchFamily="34" charset="0"/>
                <a:cs typeface="Times New Roman" panose="02020603050405020304" pitchFamily="18" charset="0"/>
              </a:rPr>
              <a:t>Purpose</a:t>
            </a:r>
            <a:r>
              <a:rPr lang="en-IN" sz="1800" dirty="0">
                <a:effectLst/>
                <a:latin typeface="Aptos" panose="020B0004020202020204" pitchFamily="34" charset="0"/>
                <a:ea typeface="Aptos" panose="020B0004020202020204" pitchFamily="34" charset="0"/>
                <a:cs typeface="Times New Roman" panose="02020603050405020304" pitchFamily="18" charset="0"/>
              </a:rPr>
              <a:t>:  The Bridge Pattern decouples an abstraction from its implementation, so that the two can vary independently. It separates the interface (abstraction) from the implementation, allowing you to change them independently.</a:t>
            </a:r>
          </a:p>
          <a:p>
            <a:r>
              <a:rPr lang="en-IN" sz="1800" dirty="0">
                <a:effectLst/>
                <a:latin typeface="Aptos" panose="020B0004020202020204" pitchFamily="34" charset="0"/>
                <a:ea typeface="Aptos" panose="020B0004020202020204" pitchFamily="34" charset="0"/>
                <a:cs typeface="Times New Roman" panose="02020603050405020304" pitchFamily="18" charset="0"/>
              </a:rPr>
              <a:t>Analogy:  Think of it as the relationship between a remote control (abstraction) and a television (implementation). The remote can control different TVs, and the TVs can be changed or updated without needing to change the remote.</a:t>
            </a:r>
            <a:endParaRPr lang="en-IN" dirty="0"/>
          </a:p>
        </p:txBody>
      </p:sp>
    </p:spTree>
    <p:extLst>
      <p:ext uri="{BB962C8B-B14F-4D97-AF65-F5344CB8AC3E}">
        <p14:creationId xmlns:p14="http://schemas.microsoft.com/office/powerpoint/2010/main" val="380581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95078-F6F2-9FE0-6419-68BF580E827A}"/>
              </a:ext>
            </a:extLst>
          </p:cNvPr>
          <p:cNvSpPr>
            <a:spLocks noGrp="1"/>
          </p:cNvSpPr>
          <p:nvPr>
            <p:ph type="title"/>
          </p:nvPr>
        </p:nvSpPr>
        <p:spPr/>
        <p:txBody>
          <a:bodyPr/>
          <a:lstStyle/>
          <a:p>
            <a:r>
              <a:rPr lang="en-GB" dirty="0"/>
              <a:t>Structural</a:t>
            </a:r>
            <a:endParaRPr lang="en-IN" dirty="0"/>
          </a:p>
        </p:txBody>
      </p:sp>
      <p:sp>
        <p:nvSpPr>
          <p:cNvPr id="3" name="Content Placeholder 2">
            <a:extLst>
              <a:ext uri="{FF2B5EF4-FFF2-40B4-BE49-F238E27FC236}">
                <a16:creationId xmlns:a16="http://schemas.microsoft.com/office/drawing/2014/main" id="{C0224977-ABDD-2646-5C70-B45B6B6EBE28}"/>
              </a:ext>
            </a:extLst>
          </p:cNvPr>
          <p:cNvSpPr>
            <a:spLocks noGrp="1"/>
          </p:cNvSpPr>
          <p:nvPr>
            <p:ph idx="1"/>
          </p:nvPr>
        </p:nvSpPr>
        <p:spPr/>
        <p:txBody>
          <a:bodyPr/>
          <a:lstStyle/>
          <a:p>
            <a:pPr marL="0" indent="0">
              <a:lnSpc>
                <a:spcPct val="107000"/>
              </a:lnSpc>
              <a:spcAft>
                <a:spcPts val="800"/>
              </a:spcAft>
              <a:buNone/>
            </a:pPr>
            <a:r>
              <a:rPr lang="en-IN" sz="1800" b="1" dirty="0">
                <a:effectLst/>
                <a:latin typeface="Aptos" panose="020B0004020202020204" pitchFamily="34" charset="0"/>
                <a:ea typeface="Aptos" panose="020B0004020202020204" pitchFamily="34" charset="0"/>
                <a:cs typeface="Times New Roman" panose="02020603050405020304" pitchFamily="18" charset="0"/>
              </a:rPr>
              <a:t>Facade</a:t>
            </a:r>
          </a:p>
          <a:p>
            <a:pPr>
              <a:lnSpc>
                <a:spcPct val="107000"/>
              </a:lnSpc>
              <a:spcAft>
                <a:spcPts val="800"/>
              </a:spcAft>
            </a:pPr>
            <a:r>
              <a:rPr lang="en-IN" sz="1800" dirty="0">
                <a:effectLst/>
                <a:latin typeface="Aptos" panose="020B0004020202020204" pitchFamily="34" charset="0"/>
                <a:ea typeface="Aptos" panose="020B0004020202020204" pitchFamily="34" charset="0"/>
                <a:cs typeface="Times New Roman" panose="02020603050405020304" pitchFamily="18" charset="0"/>
              </a:rPr>
              <a:t>Purpose:  The Facade Pattern provides a simplified interface to a complex subsystem. It hides the complexities of the system and provides a single point of access to the functionality of the subsystem.</a:t>
            </a:r>
          </a:p>
          <a:p>
            <a:pPr>
              <a:lnSpc>
                <a:spcPct val="107000"/>
              </a:lnSpc>
              <a:spcAft>
                <a:spcPts val="800"/>
              </a:spcAft>
            </a:pPr>
            <a:r>
              <a:rPr lang="en-IN" sz="1800" dirty="0">
                <a:effectLst/>
                <a:latin typeface="Aptos" panose="020B0004020202020204" pitchFamily="34" charset="0"/>
                <a:ea typeface="Aptos" panose="020B0004020202020204" pitchFamily="34" charset="0"/>
                <a:cs typeface="Times New Roman" panose="02020603050405020304" pitchFamily="18" charset="0"/>
              </a:rPr>
              <a:t>Analogy:  Consider the front desk of a hotel. The front desk provides a simple way for guests to interact with various hotel services (booking rooms, requesting room service) without needing to deal with each service individually.</a:t>
            </a:r>
          </a:p>
          <a:p>
            <a:endParaRPr lang="en-IN" dirty="0"/>
          </a:p>
        </p:txBody>
      </p:sp>
    </p:spTree>
    <p:extLst>
      <p:ext uri="{BB962C8B-B14F-4D97-AF65-F5344CB8AC3E}">
        <p14:creationId xmlns:p14="http://schemas.microsoft.com/office/powerpoint/2010/main" val="2257181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EE81-25B9-FD4F-ACB5-8166B6A15435}"/>
              </a:ext>
            </a:extLst>
          </p:cNvPr>
          <p:cNvSpPr>
            <a:spLocks noGrp="1"/>
          </p:cNvSpPr>
          <p:nvPr>
            <p:ph type="title"/>
          </p:nvPr>
        </p:nvSpPr>
        <p:spPr/>
        <p:txBody>
          <a:bodyPr/>
          <a:lstStyle/>
          <a:p>
            <a:r>
              <a:rPr lang="en-GB" dirty="0"/>
              <a:t>Structural: Summary</a:t>
            </a:r>
            <a:endParaRPr lang="en-IN" dirty="0"/>
          </a:p>
        </p:txBody>
      </p:sp>
      <p:sp>
        <p:nvSpPr>
          <p:cNvPr id="4" name="Rectangle 1">
            <a:extLst>
              <a:ext uri="{FF2B5EF4-FFF2-40B4-BE49-F238E27FC236}">
                <a16:creationId xmlns:a16="http://schemas.microsoft.com/office/drawing/2014/main" id="{228E33C1-CF7D-2792-337A-B6654B079BF5}"/>
              </a:ext>
            </a:extLst>
          </p:cNvPr>
          <p:cNvSpPr>
            <a:spLocks noGrp="1" noChangeArrowheads="1"/>
          </p:cNvSpPr>
          <p:nvPr>
            <p:ph idx="1"/>
          </p:nvPr>
        </p:nvSpPr>
        <p:spPr bwMode="auto">
          <a:xfrm>
            <a:off x="1616889" y="2544973"/>
            <a:ext cx="104183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Adapter:</a:t>
            </a:r>
            <a:r>
              <a:rPr kumimoji="0" lang="en-US" altLang="en-US" sz="1800" b="0" i="0" u="none" strike="noStrike" cap="none" normalizeH="0" baseline="0" dirty="0">
                <a:ln>
                  <a:noFill/>
                </a:ln>
                <a:solidFill>
                  <a:schemeClr val="tx1"/>
                </a:solidFill>
                <a:effectLst/>
                <a:latin typeface="Arial" panose="020B0604020202020204" pitchFamily="34" charset="0"/>
              </a:rPr>
              <a:t> Converts one interface to another to make two incompatible interfaces work together.</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Decorator:</a:t>
            </a:r>
            <a:r>
              <a:rPr kumimoji="0" lang="en-US" altLang="en-US" sz="1800" b="0" i="0" u="none" strike="noStrike" cap="none" normalizeH="0" baseline="0" dirty="0">
                <a:ln>
                  <a:noFill/>
                </a:ln>
                <a:solidFill>
                  <a:schemeClr val="tx1"/>
                </a:solidFill>
                <a:effectLst/>
                <a:latin typeface="Arial" panose="020B0604020202020204" pitchFamily="34" charset="0"/>
              </a:rPr>
              <a:t> Adds additional responsibilities to an object dynamically without changing its interface.</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Bridge:</a:t>
            </a:r>
            <a:r>
              <a:rPr kumimoji="0" lang="en-US" altLang="en-US" sz="1800" b="0" i="0" u="none" strike="noStrike" cap="none" normalizeH="0" baseline="0" dirty="0">
                <a:ln>
                  <a:noFill/>
                </a:ln>
                <a:solidFill>
                  <a:schemeClr val="tx1"/>
                </a:solidFill>
                <a:effectLst/>
                <a:latin typeface="Arial" panose="020B0604020202020204" pitchFamily="34" charset="0"/>
              </a:rPr>
              <a:t> Decouples abstraction from implementation, allowing both to evolve independently.</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Facade:</a:t>
            </a:r>
            <a:r>
              <a:rPr kumimoji="0" lang="en-US" altLang="en-US" sz="1800" b="0" i="0" u="none" strike="noStrike" cap="none" normalizeH="0" baseline="0" dirty="0">
                <a:ln>
                  <a:noFill/>
                </a:ln>
                <a:solidFill>
                  <a:schemeClr val="tx1"/>
                </a:solidFill>
                <a:effectLst/>
                <a:latin typeface="Arial" panose="020B0604020202020204" pitchFamily="34" charset="0"/>
              </a:rPr>
              <a:t> Provides a simplified, unified interface to a complex subsystem. </a:t>
            </a:r>
          </a:p>
        </p:txBody>
      </p:sp>
    </p:spTree>
    <p:extLst>
      <p:ext uri="{BB962C8B-B14F-4D97-AF65-F5344CB8AC3E}">
        <p14:creationId xmlns:p14="http://schemas.microsoft.com/office/powerpoint/2010/main" val="3576700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C595-82C1-C725-2FE4-E61410F3EBC9}"/>
              </a:ext>
            </a:extLst>
          </p:cNvPr>
          <p:cNvSpPr>
            <a:spLocks noGrp="1"/>
          </p:cNvSpPr>
          <p:nvPr>
            <p:ph type="title"/>
          </p:nvPr>
        </p:nvSpPr>
        <p:spPr/>
        <p:txBody>
          <a:bodyPr/>
          <a:lstStyle/>
          <a:p>
            <a:r>
              <a:rPr lang="en-GB" b="1" dirty="0"/>
              <a:t>Behavioural</a:t>
            </a:r>
            <a:r>
              <a:rPr lang="en-GB" dirty="0"/>
              <a:t>: </a:t>
            </a:r>
            <a:r>
              <a:rPr lang="en-GB" b="1" dirty="0"/>
              <a:t>Chain of Responsibility</a:t>
            </a:r>
            <a:endParaRPr lang="en-IN" dirty="0"/>
          </a:p>
        </p:txBody>
      </p:sp>
      <p:sp>
        <p:nvSpPr>
          <p:cNvPr id="3" name="Content Placeholder 2">
            <a:extLst>
              <a:ext uri="{FF2B5EF4-FFF2-40B4-BE49-F238E27FC236}">
                <a16:creationId xmlns:a16="http://schemas.microsoft.com/office/drawing/2014/main" id="{B2D4C728-31B0-DD53-E10B-441A979BA17C}"/>
              </a:ext>
            </a:extLst>
          </p:cNvPr>
          <p:cNvSpPr>
            <a:spLocks noGrp="1"/>
          </p:cNvSpPr>
          <p:nvPr>
            <p:ph idx="1"/>
          </p:nvPr>
        </p:nvSpPr>
        <p:spPr/>
        <p:txBody>
          <a:bodyPr>
            <a:normAutofit fontScale="85000" lnSpcReduction="10000"/>
          </a:bodyPr>
          <a:lstStyle/>
          <a:p>
            <a:r>
              <a:rPr lang="en-GB" b="1" dirty="0"/>
              <a:t>Purpose:</a:t>
            </a:r>
            <a:r>
              <a:rPr lang="en-GB" dirty="0"/>
              <a:t> The Chain of Responsibility pattern allows multiple objects the opportunity to handle a request by passing the request along a chain of potential handlers until one of them handles it. This pattern decouples the sender of a request from its receivers, allowing multiple objects to process the request without knowing which one will eventually handle it.</a:t>
            </a:r>
          </a:p>
          <a:p>
            <a:r>
              <a:rPr lang="en-GB" b="1" dirty="0"/>
              <a:t>Analogy:</a:t>
            </a:r>
            <a:r>
              <a:rPr lang="en-GB" dirty="0"/>
              <a:t> Imagine you're applying for a loan at a bank. The application doesn't directly go to the bank manager. Instead, it first goes to a customer service representative. If the application is straightforward, the representative might approve it on the spot. If it's more complex, the representative passes it to a credit officer. If the credit officer finds issues or it's a large loan, it might go to the branch manager. The request is handled by whoever has the authority and the right context to deal with it, without knowing upfront who that will be.</a:t>
            </a:r>
          </a:p>
          <a:p>
            <a:endParaRPr lang="en-IN" dirty="0"/>
          </a:p>
        </p:txBody>
      </p:sp>
    </p:spTree>
    <p:extLst>
      <p:ext uri="{BB962C8B-B14F-4D97-AF65-F5344CB8AC3E}">
        <p14:creationId xmlns:p14="http://schemas.microsoft.com/office/powerpoint/2010/main" val="26938208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C595-82C1-C725-2FE4-E61410F3EBC9}"/>
              </a:ext>
            </a:extLst>
          </p:cNvPr>
          <p:cNvSpPr>
            <a:spLocks noGrp="1"/>
          </p:cNvSpPr>
          <p:nvPr>
            <p:ph type="title"/>
          </p:nvPr>
        </p:nvSpPr>
        <p:spPr/>
        <p:txBody>
          <a:bodyPr/>
          <a:lstStyle/>
          <a:p>
            <a:r>
              <a:rPr lang="en-GB" b="1" dirty="0"/>
              <a:t>Behavioural</a:t>
            </a:r>
            <a:r>
              <a:rPr lang="en-GB" dirty="0"/>
              <a:t>: </a:t>
            </a:r>
            <a:r>
              <a:rPr lang="en-GB" b="1" dirty="0"/>
              <a:t>Mediator</a:t>
            </a:r>
            <a:endParaRPr lang="en-IN" dirty="0"/>
          </a:p>
        </p:txBody>
      </p:sp>
      <p:sp>
        <p:nvSpPr>
          <p:cNvPr id="3" name="Content Placeholder 2">
            <a:extLst>
              <a:ext uri="{FF2B5EF4-FFF2-40B4-BE49-F238E27FC236}">
                <a16:creationId xmlns:a16="http://schemas.microsoft.com/office/drawing/2014/main" id="{B2D4C728-31B0-DD53-E10B-441A979BA17C}"/>
              </a:ext>
            </a:extLst>
          </p:cNvPr>
          <p:cNvSpPr>
            <a:spLocks noGrp="1"/>
          </p:cNvSpPr>
          <p:nvPr>
            <p:ph idx="1"/>
          </p:nvPr>
        </p:nvSpPr>
        <p:spPr/>
        <p:txBody>
          <a:bodyPr>
            <a:normAutofit fontScale="92500"/>
          </a:bodyPr>
          <a:lstStyle/>
          <a:p>
            <a:r>
              <a:rPr lang="en-GB" b="1" dirty="0"/>
              <a:t>Purpose:</a:t>
            </a:r>
            <a:r>
              <a:rPr lang="en-GB" dirty="0"/>
              <a:t> The Mediator pattern defines an object that encapsulates how a set of objects interact. This pattern promotes loose coupling by keeping objects from referring to each other explicitly and lets you vary their interaction independently.</a:t>
            </a:r>
          </a:p>
          <a:p>
            <a:r>
              <a:rPr lang="en-GB" b="1" dirty="0"/>
              <a:t>Analogy:</a:t>
            </a:r>
            <a:r>
              <a:rPr lang="en-GB" dirty="0"/>
              <a:t> Think of a busy airport control tower. Pilots do not communicate directly with each other to coordinate take-offs, landings, or taxiing. Instead, they all communicate with the control tower, which manages all the interactions. The control tower (mediator) ensures that planes take off and land safely without needing to communicate directly with each other, thereby simplifying and centralizing communication.</a:t>
            </a:r>
          </a:p>
          <a:p>
            <a:endParaRPr lang="en-IN" dirty="0"/>
          </a:p>
        </p:txBody>
      </p:sp>
    </p:spTree>
    <p:extLst>
      <p:ext uri="{BB962C8B-B14F-4D97-AF65-F5344CB8AC3E}">
        <p14:creationId xmlns:p14="http://schemas.microsoft.com/office/powerpoint/2010/main" val="2418857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C595-82C1-C725-2FE4-E61410F3EBC9}"/>
              </a:ext>
            </a:extLst>
          </p:cNvPr>
          <p:cNvSpPr>
            <a:spLocks noGrp="1"/>
          </p:cNvSpPr>
          <p:nvPr>
            <p:ph type="title"/>
          </p:nvPr>
        </p:nvSpPr>
        <p:spPr/>
        <p:txBody>
          <a:bodyPr/>
          <a:lstStyle/>
          <a:p>
            <a:r>
              <a:rPr lang="en-GB" b="1" dirty="0"/>
              <a:t>Behavioural</a:t>
            </a:r>
            <a:r>
              <a:rPr lang="en-GB" dirty="0"/>
              <a:t>: </a:t>
            </a:r>
            <a:r>
              <a:rPr lang="en-GB" b="1" dirty="0"/>
              <a:t>Observer</a:t>
            </a:r>
            <a:endParaRPr lang="en-IN" dirty="0"/>
          </a:p>
        </p:txBody>
      </p:sp>
      <p:sp>
        <p:nvSpPr>
          <p:cNvPr id="3" name="Content Placeholder 2">
            <a:extLst>
              <a:ext uri="{FF2B5EF4-FFF2-40B4-BE49-F238E27FC236}">
                <a16:creationId xmlns:a16="http://schemas.microsoft.com/office/drawing/2014/main" id="{B2D4C728-31B0-DD53-E10B-441A979BA17C}"/>
              </a:ext>
            </a:extLst>
          </p:cNvPr>
          <p:cNvSpPr>
            <a:spLocks noGrp="1"/>
          </p:cNvSpPr>
          <p:nvPr>
            <p:ph idx="1"/>
          </p:nvPr>
        </p:nvSpPr>
        <p:spPr/>
        <p:txBody>
          <a:bodyPr>
            <a:normAutofit fontScale="92500"/>
          </a:bodyPr>
          <a:lstStyle/>
          <a:p>
            <a:r>
              <a:rPr lang="en-GB" b="1" dirty="0"/>
              <a:t>Purpose:</a:t>
            </a:r>
            <a:r>
              <a:rPr lang="en-GB" dirty="0"/>
              <a:t> The Observer pattern defines a one-to-many dependency between objects, so that when one object changes state, all its dependents are notified and updated automatically. This pattern is useful when an object needs to notify other objects about changes without being tightly coupled to them.</a:t>
            </a:r>
          </a:p>
          <a:p>
            <a:r>
              <a:rPr lang="en-GB" b="1" dirty="0"/>
              <a:t>Analogy:</a:t>
            </a:r>
            <a:r>
              <a:rPr lang="en-GB" dirty="0"/>
              <a:t> Consider a newsletter subscription. When you subscribe to a newsletter, you become an observer. The newsletter publisher maintains a list of all subscribers (observers). When new content (news) is published, all subscribers are notified via email. The publisher doesn't need to know who the subscribers are or how many there are; it simply sends out the news to all registered observers.</a:t>
            </a:r>
          </a:p>
          <a:p>
            <a:endParaRPr lang="en-IN" dirty="0"/>
          </a:p>
        </p:txBody>
      </p:sp>
    </p:spTree>
    <p:extLst>
      <p:ext uri="{BB962C8B-B14F-4D97-AF65-F5344CB8AC3E}">
        <p14:creationId xmlns:p14="http://schemas.microsoft.com/office/powerpoint/2010/main" val="2139374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8687C-1373-4DB3-AD0E-C07D68D4AB68}"/>
              </a:ext>
            </a:extLst>
          </p:cNvPr>
          <p:cNvSpPr>
            <a:spLocks noGrp="1"/>
          </p:cNvSpPr>
          <p:nvPr>
            <p:ph type="title"/>
          </p:nvPr>
        </p:nvSpPr>
        <p:spPr/>
        <p:txBody>
          <a:bodyPr/>
          <a:lstStyle/>
          <a:p>
            <a:r>
              <a:rPr lang="en-GB" dirty="0"/>
              <a:t>Summary</a:t>
            </a:r>
            <a:endParaRPr lang="en-IN" dirty="0"/>
          </a:p>
        </p:txBody>
      </p:sp>
      <p:sp>
        <p:nvSpPr>
          <p:cNvPr id="4" name="Rectangle 1">
            <a:extLst>
              <a:ext uri="{FF2B5EF4-FFF2-40B4-BE49-F238E27FC236}">
                <a16:creationId xmlns:a16="http://schemas.microsoft.com/office/drawing/2014/main" id="{CEA172AC-FD16-1166-8CDB-9A0D10F5880B}"/>
              </a:ext>
            </a:extLst>
          </p:cNvPr>
          <p:cNvSpPr>
            <a:spLocks noGrp="1" noChangeArrowheads="1"/>
          </p:cNvSpPr>
          <p:nvPr>
            <p:ph idx="1"/>
          </p:nvPr>
        </p:nvSpPr>
        <p:spPr bwMode="auto">
          <a:xfrm>
            <a:off x="1534696" y="2894654"/>
            <a:ext cx="9238426"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Chain of Responsibility:</a:t>
            </a:r>
            <a:r>
              <a:rPr kumimoji="0" lang="en-US" altLang="en-US" sz="1800" b="0" i="0" u="none" strike="noStrike" cap="none" normalizeH="0" baseline="0" dirty="0">
                <a:ln>
                  <a:noFill/>
                </a:ln>
                <a:solidFill>
                  <a:schemeClr val="tx1"/>
                </a:solidFill>
                <a:effectLst/>
                <a:latin typeface="Arial" panose="020B0604020202020204" pitchFamily="34" charset="0"/>
              </a:rPr>
              <a:t> Handles requests in a chain until one object handles it. </a:t>
            </a:r>
          </a:p>
          <a:p>
            <a:pPr lvl="1" eaLnBrk="0" fontAlgn="base"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Analogy:</a:t>
            </a:r>
            <a:r>
              <a:rPr kumimoji="0" lang="en-US" altLang="en-US" sz="1600" b="0" i="0" u="none" strike="noStrike" cap="none" normalizeH="0" baseline="0" dirty="0">
                <a:ln>
                  <a:noFill/>
                </a:ln>
                <a:solidFill>
                  <a:schemeClr val="tx1"/>
                </a:solidFill>
                <a:effectLst/>
                <a:latin typeface="Arial" panose="020B0604020202020204" pitchFamily="34" charset="0"/>
              </a:rPr>
              <a:t> Loan application process in a bank.</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Mediator:</a:t>
            </a:r>
            <a:r>
              <a:rPr kumimoji="0" lang="en-US" altLang="en-US" sz="1800" b="0" i="0" u="none" strike="noStrike" cap="none" normalizeH="0" baseline="0" dirty="0">
                <a:ln>
                  <a:noFill/>
                </a:ln>
                <a:solidFill>
                  <a:schemeClr val="tx1"/>
                </a:solidFill>
                <a:effectLst/>
                <a:latin typeface="Arial" panose="020B0604020202020204" pitchFamily="34" charset="0"/>
              </a:rPr>
              <a:t> Centralizes communication between objects to reduce direct dependencies.</a:t>
            </a:r>
          </a:p>
          <a:p>
            <a:pPr lvl="1" eaLnBrk="0" fontAlgn="base"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Analogy:</a:t>
            </a:r>
            <a:r>
              <a:rPr kumimoji="0" lang="en-US" altLang="en-US" sz="1600" b="0" i="0" u="none" strike="noStrike" cap="none" normalizeH="0" baseline="0" dirty="0">
                <a:ln>
                  <a:noFill/>
                </a:ln>
                <a:solidFill>
                  <a:schemeClr val="tx1"/>
                </a:solidFill>
                <a:effectLst/>
                <a:latin typeface="Arial" panose="020B0604020202020204" pitchFamily="34" charset="0"/>
              </a:rPr>
              <a:t> Air traffic control in an airport.</a:t>
            </a:r>
          </a:p>
          <a:p>
            <a:pPr eaLnBrk="0" fontAlgn="base"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Observer:</a:t>
            </a:r>
            <a:r>
              <a:rPr kumimoji="0" lang="en-US" altLang="en-US" sz="1800" b="0" i="0" u="none" strike="noStrike" cap="none" normalizeH="0" baseline="0" dirty="0">
                <a:ln>
                  <a:noFill/>
                </a:ln>
                <a:solidFill>
                  <a:schemeClr val="tx1"/>
                </a:solidFill>
                <a:effectLst/>
                <a:latin typeface="Arial" panose="020B0604020202020204" pitchFamily="34" charset="0"/>
              </a:rPr>
              <a:t> Notifies multiple objects of a change in state automatically. </a:t>
            </a:r>
          </a:p>
          <a:p>
            <a:pPr lvl="1" eaLnBrk="0" fontAlgn="base" hangingPunct="0">
              <a:lnSpc>
                <a:spcPct val="100000"/>
              </a:lnSpc>
              <a:spcBef>
                <a:spcPct val="0"/>
              </a:spcBef>
              <a:spcAft>
                <a:spcPct val="0"/>
              </a:spcAft>
              <a:buClrTx/>
              <a:buSzTx/>
            </a:pPr>
            <a:r>
              <a:rPr kumimoji="0" lang="en-US" altLang="en-US" sz="1600" b="1" i="0" u="none" strike="noStrike" cap="none" normalizeH="0" baseline="0" dirty="0">
                <a:ln>
                  <a:noFill/>
                </a:ln>
                <a:solidFill>
                  <a:schemeClr val="tx1"/>
                </a:solidFill>
                <a:effectLst/>
                <a:latin typeface="Arial" panose="020B0604020202020204" pitchFamily="34" charset="0"/>
              </a:rPr>
              <a:t>Analogy:</a:t>
            </a:r>
            <a:r>
              <a:rPr kumimoji="0" lang="en-US" altLang="en-US" sz="1600" b="0" i="0" u="none" strike="noStrike" cap="none" normalizeH="0" baseline="0" dirty="0">
                <a:ln>
                  <a:noFill/>
                </a:ln>
                <a:solidFill>
                  <a:schemeClr val="tx1"/>
                </a:solidFill>
                <a:effectLst/>
                <a:latin typeface="Arial" panose="020B0604020202020204" pitchFamily="34" charset="0"/>
              </a:rPr>
              <a:t> Newsletter subscription notification system. </a:t>
            </a:r>
          </a:p>
        </p:txBody>
      </p:sp>
    </p:spTree>
    <p:extLst>
      <p:ext uri="{BB962C8B-B14F-4D97-AF65-F5344CB8AC3E}">
        <p14:creationId xmlns:p14="http://schemas.microsoft.com/office/powerpoint/2010/main" val="703912869"/>
      </p:ext>
    </p:extLst>
  </p:cSld>
  <p:clrMapOvr>
    <a:masterClrMapping/>
  </p:clrMapOvr>
</p:sld>
</file>

<file path=ppt/theme/theme1.xml><?xml version="1.0" encoding="utf-8"?>
<a:theme xmlns:a="http://schemas.openxmlformats.org/drawingml/2006/main" name="1_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0C033212-5DED-4E82-AEDD-53CB848480BF}" vid="{EE944BD9-19B5-4315-8DA4-83EC92D9DA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6198</TotalTime>
  <Words>2969</Words>
  <Application>Microsoft Office PowerPoint</Application>
  <PresentationFormat>Widescreen</PresentationFormat>
  <Paragraphs>270</Paragraphs>
  <Slides>42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Aptos</vt:lpstr>
      <vt:lpstr>Arial</vt:lpstr>
      <vt:lpstr>Calibri</vt:lpstr>
      <vt:lpstr>Palatino Linotype</vt:lpstr>
      <vt:lpstr>Verdana</vt:lpstr>
      <vt:lpstr>Wingdings</vt:lpstr>
      <vt:lpstr>1_Gallery</vt:lpstr>
      <vt:lpstr>Software Design with Design Principle and Design Pattern</vt:lpstr>
      <vt:lpstr>Road Map </vt:lpstr>
      <vt:lpstr>Software Design Principle </vt:lpstr>
      <vt:lpstr>Software Design Patterns </vt:lpstr>
      <vt:lpstr>To Summarize….</vt:lpstr>
      <vt:lpstr>Why to learn?</vt:lpstr>
      <vt:lpstr>SOLID</vt:lpstr>
      <vt:lpstr>SOLID Principle</vt:lpstr>
      <vt:lpstr>S Single Responsibility Principle </vt:lpstr>
      <vt:lpstr>Scenario</vt:lpstr>
      <vt:lpstr>O  Open/Closed Principle </vt:lpstr>
      <vt:lpstr>Scenario</vt:lpstr>
      <vt:lpstr>L  Liscov Substitution Principle </vt:lpstr>
      <vt:lpstr>Scenario</vt:lpstr>
      <vt:lpstr>I  Interface Segregation Principle </vt:lpstr>
      <vt:lpstr>Scenario</vt:lpstr>
      <vt:lpstr>I  Dependency Inversion Principle </vt:lpstr>
      <vt:lpstr>Scenario</vt:lpstr>
      <vt:lpstr>Thanks </vt:lpstr>
      <vt:lpstr>Design Pattern</vt:lpstr>
      <vt:lpstr>Why Use Design Patterns?</vt:lpstr>
      <vt:lpstr>Benefits of Using Design Patterns</vt:lpstr>
      <vt:lpstr>Categories of Design Patterns</vt:lpstr>
      <vt:lpstr>Creational Patterns</vt:lpstr>
      <vt:lpstr>Structural Patterns</vt:lpstr>
      <vt:lpstr>Behavioural Patterns</vt:lpstr>
      <vt:lpstr>Creational Patterns</vt:lpstr>
      <vt:lpstr>Structural Patterns</vt:lpstr>
      <vt:lpstr>Behavioural Patterns</vt:lpstr>
      <vt:lpstr>Creational: Singleton</vt:lpstr>
      <vt:lpstr>Creational: Factory</vt:lpstr>
      <vt:lpstr>Creational: Abstract Factory</vt:lpstr>
      <vt:lpstr>Summary</vt:lpstr>
      <vt:lpstr>Structural</vt:lpstr>
      <vt:lpstr>Structural</vt:lpstr>
      <vt:lpstr>Structural</vt:lpstr>
      <vt:lpstr>Structural</vt:lpstr>
      <vt:lpstr>Structural: Summary</vt:lpstr>
      <vt:lpstr>Behavioural: Chain of Responsibility</vt:lpstr>
      <vt:lpstr>Behavioural: Mediator</vt:lpstr>
      <vt:lpstr>Behavioural: Observer</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MongoDB</dc:title>
  <dc:creator>Sourav Maitra</dc:creator>
  <cp:lastModifiedBy>Sourav Maitra</cp:lastModifiedBy>
  <cp:revision>37</cp:revision>
  <dcterms:created xsi:type="dcterms:W3CDTF">2023-08-27T13:33:37Z</dcterms:created>
  <dcterms:modified xsi:type="dcterms:W3CDTF">2026-07-10T04:05:47Z</dcterms:modified>
</cp:coreProperties>
</file>